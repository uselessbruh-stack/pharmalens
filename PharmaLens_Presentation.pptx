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2" r:id="rId6"/>
    <p:sldId id="260" r:id="rId7"/>
    <p:sldId id="273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9" d="100"/>
          <a:sy n="79" d="100"/>
        </p:scale>
        <p:origin x="1090" y="50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6459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ADE80"/>
                </a:solidFill>
                <a:latin typeface="Consolas"/>
              </a:defRPr>
            </a:pPr>
            <a:r>
              <a:t>MCA CAPSTONE PROJECT · 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BE5D8"/>
                </a:solidFill>
                <a:latin typeface="Calibri"/>
              </a:defRPr>
            </a:pPr>
            <a:r>
              <a:t>PharmaLens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91840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5AE9F"/>
                </a:solidFill>
                <a:latin typeface="Calibri"/>
              </a:defRPr>
            </a:pPr>
            <a:r>
              <a:t>An Explainable AI Framework for Drug–Target Interaction</a:t>
            </a:r>
            <a:br/>
            <a:r>
              <a:t>Prediction and Candidate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3409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A7568"/>
                </a:solidFill>
                <a:latin typeface="Calibri"/>
              </a:defRPr>
            </a:pPr>
            <a:r>
              <a:rPr lang="en-US" dirty="0"/>
              <a:t>Name: Abhijith Krishna G </a:t>
            </a:r>
            <a:r>
              <a:rPr dirty="0"/>
              <a:t>·  Roll: </a:t>
            </a:r>
            <a:r>
              <a:rPr lang="en-US" dirty="0"/>
              <a:t>PES1PG25CA005</a:t>
            </a:r>
          </a:p>
          <a:p>
            <a:pPr algn="ctr">
              <a:defRPr sz="1400" b="0">
                <a:solidFill>
                  <a:srgbClr val="7A7568"/>
                </a:solidFill>
                <a:latin typeface="Calibri"/>
              </a:defRPr>
            </a:pPr>
            <a:r>
              <a:rPr dirty="0"/>
              <a:t>Guide</a:t>
            </a:r>
            <a:r>
              <a:rPr lang="en-US" dirty="0"/>
              <a:t>: Dr. Gayathri L</a:t>
            </a:r>
          </a:p>
          <a:p>
            <a:pPr algn="ctr">
              <a:defRPr sz="1400" b="0">
                <a:solidFill>
                  <a:srgbClr val="7A7568"/>
                </a:solidFill>
                <a:latin typeface="Calibri"/>
              </a:defRPr>
            </a:pPr>
            <a:r>
              <a:rPr dirty="0"/>
              <a:t>Department of Computer Applications, </a:t>
            </a:r>
            <a:r>
              <a:rPr lang="en-US" dirty="0"/>
              <a:t>PES University</a:t>
            </a:r>
          </a:p>
          <a:p>
            <a:pPr algn="ctr">
              <a:defRPr sz="1400" b="0">
                <a:solidFill>
                  <a:srgbClr val="7A7568"/>
                </a:solidFill>
                <a:latin typeface="Calibri"/>
              </a:defRPr>
            </a:pPr>
            <a:r>
              <a:rPr dirty="0"/>
              <a:t>October 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EBAE87-194A-1E06-65A4-C300E7FF1A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9889671" y="335280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33315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rPr dirty="0"/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51580"/>
            <a:ext cx="4329084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000" b="0" dirty="0">
                <a:solidFill>
                  <a:srgbClr val="B5AE9F"/>
                </a:solidFill>
                <a:latin typeface="Calibri"/>
              </a:rPr>
              <a:t>Drug discovery costs </a:t>
            </a:r>
            <a:r>
              <a:rPr sz="2000" b="1" dirty="0">
                <a:solidFill>
                  <a:srgbClr val="EBE5D8"/>
                </a:solidFill>
                <a:latin typeface="Calibri"/>
              </a:rPr>
              <a:t>$1–2 billion</a:t>
            </a:r>
            <a:r>
              <a:rPr sz="2000" b="0" dirty="0">
                <a:solidFill>
                  <a:srgbClr val="B5AE9F"/>
                </a:solidFill>
                <a:latin typeface="Calibri"/>
              </a:rPr>
              <a:t> and takes </a:t>
            </a:r>
            <a:r>
              <a:rPr sz="2000" b="1" dirty="0">
                <a:solidFill>
                  <a:srgbClr val="EBE5D8"/>
                </a:solidFill>
                <a:latin typeface="Calibri"/>
              </a:rPr>
              <a:t>10–15 years</a:t>
            </a:r>
            <a:r>
              <a:rPr sz="2000" b="0" dirty="0">
                <a:solidFill>
                  <a:srgbClr val="B5AE9F"/>
                </a:solidFill>
                <a:latin typeface="Calibri"/>
              </a:rPr>
              <a:t> per drug. Testing every drug-protein combination experimentally is infeasible.</a:t>
            </a:r>
          </a:p>
          <a:p>
            <a:pPr algn="just">
              <a:spcBef>
                <a:spcPts val="1200"/>
              </a:spcBef>
            </a:pPr>
            <a:r>
              <a:rPr sz="2000" b="0" dirty="0" err="1">
                <a:solidFill>
                  <a:srgbClr val="B5AE9F"/>
                </a:solidFill>
                <a:latin typeface="Calibri"/>
              </a:rPr>
              <a:t>PharmaLens</a:t>
            </a:r>
            <a:r>
              <a:rPr sz="2000" b="0" dirty="0">
                <a:solidFill>
                  <a:srgbClr val="B5AE9F"/>
                </a:solidFill>
                <a:latin typeface="Calibri"/>
              </a:rPr>
              <a:t> uses machine learning to predict binding affinity from molecular structure and protein sequences. It compares </a:t>
            </a:r>
            <a:r>
              <a:rPr sz="2000" b="1" dirty="0">
                <a:solidFill>
                  <a:srgbClr val="EBE5D8"/>
                </a:solidFill>
                <a:latin typeface="Calibri"/>
              </a:rPr>
              <a:t>7 models</a:t>
            </a:r>
            <a:r>
              <a:rPr sz="2000" b="0" dirty="0">
                <a:solidFill>
                  <a:srgbClr val="B5AE9F"/>
                </a:solidFill>
                <a:latin typeface="Calibri"/>
              </a:rPr>
              <a:t> on the KIBA benchmark and provides </a:t>
            </a:r>
            <a:r>
              <a:rPr sz="2000" b="1" dirty="0">
                <a:solidFill>
                  <a:srgbClr val="EBE5D8"/>
                </a:solidFill>
                <a:latin typeface="Calibri"/>
              </a:rPr>
              <a:t>SHAP explainability</a:t>
            </a:r>
            <a:r>
              <a:rPr sz="2000" b="0" dirty="0">
                <a:solidFill>
                  <a:srgbClr val="B5AE9F"/>
                </a:solidFill>
                <a:latin typeface="Calibri"/>
              </a:rPr>
              <a:t> for interpretable predictions.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0" y="1597890"/>
            <a:ext cx="2566144" cy="1810799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0" y="1948234"/>
            <a:ext cx="256614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ADE80"/>
                </a:solidFill>
                <a:latin typeface="Consolas"/>
              </a:defRPr>
            </a:pPr>
            <a:r>
              <a:rPr sz="3500" dirty="0"/>
              <a:t>118K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2689016"/>
            <a:ext cx="256614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rPr sz="1500"/>
              <a:t>INTERACTIONS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96860" y="1597890"/>
            <a:ext cx="2566144" cy="1810799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96860" y="1948234"/>
            <a:ext cx="256614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B942"/>
                </a:solidFill>
                <a:latin typeface="Consolas"/>
              </a:defRPr>
            </a:pPr>
            <a:r>
              <a:rPr sz="3500" dirty="0"/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6860" y="2689016"/>
            <a:ext cx="256614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rPr sz="1500" dirty="0"/>
              <a:t>MODELS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0" y="3737926"/>
            <a:ext cx="2566144" cy="1810799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0" y="4088270"/>
            <a:ext cx="256614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ADE80"/>
                </a:solidFill>
                <a:latin typeface="Consolas"/>
              </a:defRPr>
            </a:pPr>
            <a:r>
              <a:rPr sz="3500" dirty="0"/>
              <a:t>0.421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4829051"/>
            <a:ext cx="256614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rPr sz="1500"/>
              <a:t>BEST RMSE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6860" y="3737926"/>
            <a:ext cx="2566144" cy="1810799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96860" y="4088270"/>
            <a:ext cx="256614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BE5D8"/>
                </a:solidFill>
                <a:latin typeface="Consolas"/>
              </a:defRPr>
            </a:pPr>
            <a:r>
              <a:rPr sz="3500" dirty="0"/>
              <a:t>0.867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6860" y="4829051"/>
            <a:ext cx="256614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rPr sz="1500"/>
              <a:t>PEARSON 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rPr dirty="0"/>
              <a:t>Problem · Solution ·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691639"/>
            <a:ext cx="4846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BE5D8"/>
                </a:solidFill>
                <a:latin typeface="Calibri"/>
              </a:defRPr>
            </a:pPr>
            <a:r>
              <a:rPr sz="1600" dirty="0"/>
              <a:t>🚨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195942"/>
            <a:ext cx="4846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5AE9F"/>
                </a:solidFill>
                <a:latin typeface="Calibri"/>
              </a:defRPr>
            </a:pPr>
            <a:r>
              <a:rPr sz="1400" dirty="0"/>
              <a:t>• Experimental screening is slow &amp; costs billions</a:t>
            </a:r>
            <a:br>
              <a:rPr sz="1400" dirty="0"/>
            </a:br>
            <a:r>
              <a:rPr sz="1400" dirty="0"/>
              <a:t>• Combinatorial explosion: thousands of drugs × hundreds of proteins</a:t>
            </a:r>
            <a:br>
              <a:rPr sz="1400" dirty="0"/>
            </a:br>
            <a:r>
              <a:rPr sz="1400" dirty="0"/>
              <a:t>• Most AI models lack interpretability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554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691639"/>
            <a:ext cx="4846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BE5D8"/>
                </a:solidFill>
                <a:latin typeface="Calibri"/>
              </a:defRPr>
            </a:pPr>
            <a:r>
              <a:rPr sz="1600" dirty="0"/>
              <a:t>💡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95942"/>
            <a:ext cx="4846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5AE9F"/>
                </a:solidFill>
                <a:latin typeface="Calibri"/>
              </a:defRPr>
            </a:pPr>
            <a:r>
              <a:rPr sz="1400"/>
              <a:t>• ML framework predicting binding from SMILES + protein sequence</a:t>
            </a:r>
            <a:br>
              <a:rPr sz="1400"/>
            </a:br>
            <a:r>
              <a:rPr sz="1400"/>
              <a:t>• 7-model comparison: baselines → XGBoost → CNN → GNN</a:t>
            </a:r>
            <a:br>
              <a:rPr sz="1400"/>
            </a:br>
            <a:r>
              <a:rPr sz="1400"/>
              <a:t>• SHAP explainability for every prediction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0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59" y="3977640"/>
            <a:ext cx="4846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BE5D8"/>
                </a:solidFill>
                <a:latin typeface="Calibri"/>
              </a:defRPr>
            </a:pPr>
            <a:r>
              <a:rPr sz="1600"/>
              <a:t>🎯 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481942"/>
            <a:ext cx="48463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5AE9F"/>
                </a:solidFill>
                <a:latin typeface="Calibri"/>
              </a:defRPr>
            </a:pPr>
            <a:r>
              <a:rPr sz="1400"/>
              <a:t>• Accelerate early-stage drug candidate prioritization</a:t>
            </a:r>
            <a:br>
              <a:rPr sz="1400"/>
            </a:br>
            <a:r>
              <a:rPr sz="1400"/>
              <a:t>• Provide trustworthy, interpretable predictions</a:t>
            </a:r>
            <a:br>
              <a:rPr sz="1400"/>
            </a:br>
            <a:r>
              <a:rPr sz="1400"/>
              <a:t>• Enable batch screening for researchers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840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3977640"/>
            <a:ext cx="4846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BE5D8"/>
                </a:solidFill>
                <a:latin typeface="Calibri"/>
              </a:defRPr>
            </a:pPr>
            <a:r>
              <a:rPr sz="1600"/>
              <a:t>📐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481942"/>
            <a:ext cx="4846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5AE9F"/>
                </a:solidFill>
                <a:latin typeface="Calibri"/>
              </a:defRPr>
            </a:pPr>
            <a:r>
              <a:rPr sz="1400"/>
              <a:t>• KIBA benchmark dataset (kinase inhibitors)</a:t>
            </a:r>
            <a:br>
              <a:rPr sz="1400"/>
            </a:br>
            <a:r>
              <a:rPr sz="1400"/>
              <a:t>• Continuous binding affinity prediction</a:t>
            </a:r>
            <a:br>
              <a:rPr sz="1400"/>
            </a:br>
            <a:r>
              <a:rPr sz="1400"/>
              <a:t>• Web app for interactive prediction &amp; screening</a:t>
            </a:r>
            <a:br>
              <a:rPr sz="1400"/>
            </a:br>
            <a:r>
              <a:rPr sz="1400"/>
              <a:t>• Does not replace experimental validation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LITERATURE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Research Papers (IEEE / Scopus Indexed)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A9AB43E-CB32-AA95-1B76-6696B041DF67}"/>
              </a:ext>
            </a:extLst>
          </p:cNvPr>
          <p:cNvSpPr txBox="1"/>
          <p:nvPr/>
        </p:nvSpPr>
        <p:spPr>
          <a:xfrm>
            <a:off x="753492" y="1357563"/>
            <a:ext cx="948978" cy="3385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EBE5D8"/>
                </a:solidFill>
                <a:latin typeface="Calibri"/>
              </a:rPr>
              <a:t>01 to 05</a:t>
            </a:r>
          </a:p>
        </p:txBody>
      </p:sp>
      <p:sp>
        <p:nvSpPr>
          <p:cNvPr id="77" name="Rounded Rectangle 4">
            <a:extLst>
              <a:ext uri="{FF2B5EF4-FFF2-40B4-BE49-F238E27FC236}">
                <a16:creationId xmlns:a16="http://schemas.microsoft.com/office/drawing/2014/main" id="{57E5F58F-2BE1-0565-73B8-5A51B750BE81}"/>
              </a:ext>
            </a:extLst>
          </p:cNvPr>
          <p:cNvSpPr/>
          <p:nvPr/>
        </p:nvSpPr>
        <p:spPr>
          <a:xfrm>
            <a:off x="753492" y="1929814"/>
            <a:ext cx="5141459" cy="1315324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73537D-9A8B-F8A0-6167-ED63478E83F3}"/>
              </a:ext>
            </a:extLst>
          </p:cNvPr>
          <p:cNvSpPr txBox="1"/>
          <p:nvPr/>
        </p:nvSpPr>
        <p:spPr>
          <a:xfrm>
            <a:off x="913883" y="2057930"/>
            <a:ext cx="374248" cy="21352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ADE80"/>
                </a:solidFill>
                <a:latin typeface="Calibri"/>
              </a:rPr>
              <a:t>01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40E9E9A-99BE-4DED-0587-CF43EB6AB63F}"/>
              </a:ext>
            </a:extLst>
          </p:cNvPr>
          <p:cNvSpPr txBox="1"/>
          <p:nvPr/>
        </p:nvSpPr>
        <p:spPr>
          <a:xfrm>
            <a:off x="1332686" y="2032307"/>
            <a:ext cx="4401873" cy="2562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BE5D8"/>
                </a:solidFill>
                <a:latin typeface="Calibri"/>
              </a:rPr>
              <a:t>DeepDTA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3FD76F-F018-C55E-2075-50FE470EB145}"/>
              </a:ext>
            </a:extLst>
          </p:cNvPr>
          <p:cNvSpPr txBox="1"/>
          <p:nvPr/>
        </p:nvSpPr>
        <p:spPr>
          <a:xfrm>
            <a:off x="1332686" y="2339786"/>
            <a:ext cx="4401873" cy="19644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A7568"/>
                </a:solidFill>
                <a:latin typeface="Calibri"/>
              </a:rPr>
              <a:t>Öztürk et al. · 2018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C1EDDD-CBF7-8107-5358-48FF6B4019D7}"/>
              </a:ext>
            </a:extLst>
          </p:cNvPr>
          <p:cNvSpPr txBox="1"/>
          <p:nvPr/>
        </p:nvSpPr>
        <p:spPr>
          <a:xfrm>
            <a:off x="913883" y="2613100"/>
            <a:ext cx="4820674" cy="40997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B5AE9F"/>
                </a:solidFill>
                <a:latin typeface="Calibri"/>
              </a:rPr>
              <a:t>CNN-based drug–target affinity prediction from SMILES and protein sequences.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CE1C9A1-946A-3EAD-32FE-3927FF945278}"/>
              </a:ext>
            </a:extLst>
          </p:cNvPr>
          <p:cNvSpPr txBox="1"/>
          <p:nvPr/>
        </p:nvSpPr>
        <p:spPr>
          <a:xfrm>
            <a:off x="913883" y="3014530"/>
            <a:ext cx="4820674" cy="1708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69" b="1">
                <a:solidFill>
                  <a:srgbClr val="4ADE80"/>
                </a:solidFill>
                <a:latin typeface="Calibri"/>
              </a:rPr>
              <a:t>PharmaLens: Baseline sequence-learning reference.</a:t>
            </a:r>
          </a:p>
        </p:txBody>
      </p:sp>
      <p:sp>
        <p:nvSpPr>
          <p:cNvPr id="89" name="Rounded Rectangle 10">
            <a:extLst>
              <a:ext uri="{FF2B5EF4-FFF2-40B4-BE49-F238E27FC236}">
                <a16:creationId xmlns:a16="http://schemas.microsoft.com/office/drawing/2014/main" id="{72FC3B7A-37CC-C9DE-E52B-254F2B6D0E29}"/>
              </a:ext>
            </a:extLst>
          </p:cNvPr>
          <p:cNvSpPr/>
          <p:nvPr/>
        </p:nvSpPr>
        <p:spPr>
          <a:xfrm>
            <a:off x="6242467" y="1929814"/>
            <a:ext cx="5141459" cy="1315324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9F178C3-20BE-2E4B-FC13-12B84F8A996C}"/>
              </a:ext>
            </a:extLst>
          </p:cNvPr>
          <p:cNvSpPr txBox="1"/>
          <p:nvPr/>
        </p:nvSpPr>
        <p:spPr>
          <a:xfrm>
            <a:off x="6402859" y="2057930"/>
            <a:ext cx="374248" cy="21352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ADE80"/>
                </a:solidFill>
                <a:latin typeface="Calibri"/>
              </a:rPr>
              <a:t>02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9D3793C-BE12-1852-4B08-3E5D630352DC}"/>
              </a:ext>
            </a:extLst>
          </p:cNvPr>
          <p:cNvSpPr txBox="1"/>
          <p:nvPr/>
        </p:nvSpPr>
        <p:spPr>
          <a:xfrm>
            <a:off x="6821661" y="2032307"/>
            <a:ext cx="4401873" cy="2562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BE5D8"/>
                </a:solidFill>
                <a:latin typeface="Calibri"/>
              </a:rPr>
              <a:t>DeepPurpose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CAFA30E-FA64-AF32-03E1-F9499401873C}"/>
              </a:ext>
            </a:extLst>
          </p:cNvPr>
          <p:cNvSpPr txBox="1"/>
          <p:nvPr/>
        </p:nvSpPr>
        <p:spPr>
          <a:xfrm>
            <a:off x="6821661" y="2339786"/>
            <a:ext cx="4401873" cy="19644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A7568"/>
                </a:solidFill>
                <a:latin typeface="Calibri"/>
              </a:rPr>
              <a:t>Huang et al. · 2020/2021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92122DB-0963-7919-10C9-8A1739C52F79}"/>
              </a:ext>
            </a:extLst>
          </p:cNvPr>
          <p:cNvSpPr txBox="1"/>
          <p:nvPr/>
        </p:nvSpPr>
        <p:spPr>
          <a:xfrm>
            <a:off x="6402859" y="2613100"/>
            <a:ext cx="4820674" cy="40997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B5AE9F"/>
                </a:solidFill>
                <a:latin typeface="Calibri"/>
              </a:rPr>
              <a:t>Unified DTI library with multiple drug/protein encoders, models and virtual screening.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4FE5180-EF3E-5D0C-89E1-96CF6424CA8B}"/>
              </a:ext>
            </a:extLst>
          </p:cNvPr>
          <p:cNvSpPr txBox="1"/>
          <p:nvPr/>
        </p:nvSpPr>
        <p:spPr>
          <a:xfrm>
            <a:off x="6402859" y="3014530"/>
            <a:ext cx="4820674" cy="1708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69" b="1">
                <a:solidFill>
                  <a:srgbClr val="4ADE80"/>
                </a:solidFill>
                <a:latin typeface="Calibri"/>
              </a:rPr>
              <a:t>PharmaLens: Motivates multi-model experimentation.</a:t>
            </a:r>
          </a:p>
        </p:txBody>
      </p:sp>
      <p:sp>
        <p:nvSpPr>
          <p:cNvPr id="101" name="Rounded Rectangle 16">
            <a:extLst>
              <a:ext uri="{FF2B5EF4-FFF2-40B4-BE49-F238E27FC236}">
                <a16:creationId xmlns:a16="http://schemas.microsoft.com/office/drawing/2014/main" id="{5B330418-9780-5855-40A7-A47558CA6FF1}"/>
              </a:ext>
            </a:extLst>
          </p:cNvPr>
          <p:cNvSpPr/>
          <p:nvPr/>
        </p:nvSpPr>
        <p:spPr>
          <a:xfrm>
            <a:off x="753492" y="3475748"/>
            <a:ext cx="5141459" cy="1315324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30E1BCC-942E-9B2F-179F-4941BF488EF8}"/>
              </a:ext>
            </a:extLst>
          </p:cNvPr>
          <p:cNvSpPr txBox="1"/>
          <p:nvPr/>
        </p:nvSpPr>
        <p:spPr>
          <a:xfrm>
            <a:off x="913883" y="3603864"/>
            <a:ext cx="374248" cy="21352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ADE80"/>
                </a:solidFill>
                <a:latin typeface="Calibri"/>
              </a:rPr>
              <a:t>03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5710F51-81ED-E0F6-5CF3-977C542C0F5B}"/>
              </a:ext>
            </a:extLst>
          </p:cNvPr>
          <p:cNvSpPr txBox="1"/>
          <p:nvPr/>
        </p:nvSpPr>
        <p:spPr>
          <a:xfrm>
            <a:off x="1332686" y="3578240"/>
            <a:ext cx="4401873" cy="2562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BE5D8"/>
                </a:solidFill>
                <a:latin typeface="Calibri"/>
              </a:rPr>
              <a:t>GraphDTA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7CA14-9A0A-D055-3284-7BDC96A0AEEA}"/>
              </a:ext>
            </a:extLst>
          </p:cNvPr>
          <p:cNvSpPr txBox="1"/>
          <p:nvPr/>
        </p:nvSpPr>
        <p:spPr>
          <a:xfrm>
            <a:off x="1332686" y="3885719"/>
            <a:ext cx="4401873" cy="19644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A7568"/>
                </a:solidFill>
                <a:latin typeface="Calibri"/>
              </a:rPr>
              <a:t>Nguyen et al. · 2021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27AB478-A840-4827-B253-A8286DE9F77A}"/>
              </a:ext>
            </a:extLst>
          </p:cNvPr>
          <p:cNvSpPr txBox="1"/>
          <p:nvPr/>
        </p:nvSpPr>
        <p:spPr>
          <a:xfrm>
            <a:off x="913883" y="4159033"/>
            <a:ext cx="4820674" cy="40997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B5AE9F"/>
                </a:solidFill>
                <a:latin typeface="Calibri"/>
              </a:rPr>
              <a:t>Represents drugs as molecular graphs and learns drug features with GNNs.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8E913B9-195C-29DD-6A77-68CE3B06E03A}"/>
              </a:ext>
            </a:extLst>
          </p:cNvPr>
          <p:cNvSpPr txBox="1"/>
          <p:nvPr/>
        </p:nvSpPr>
        <p:spPr>
          <a:xfrm>
            <a:off x="913883" y="4560463"/>
            <a:ext cx="4820674" cy="1708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69" b="1">
                <a:solidFill>
                  <a:srgbClr val="4ADE80"/>
                </a:solidFill>
                <a:latin typeface="Calibri"/>
              </a:rPr>
              <a:t>PharmaLens: Graph branch / GNN comparison.</a:t>
            </a:r>
          </a:p>
        </p:txBody>
      </p:sp>
      <p:sp>
        <p:nvSpPr>
          <p:cNvPr id="113" name="Rounded Rectangle 22">
            <a:extLst>
              <a:ext uri="{FF2B5EF4-FFF2-40B4-BE49-F238E27FC236}">
                <a16:creationId xmlns:a16="http://schemas.microsoft.com/office/drawing/2014/main" id="{3FB165D1-5729-3F24-0B5B-0ADF6F443326}"/>
              </a:ext>
            </a:extLst>
          </p:cNvPr>
          <p:cNvSpPr/>
          <p:nvPr/>
        </p:nvSpPr>
        <p:spPr>
          <a:xfrm>
            <a:off x="6242467" y="3475748"/>
            <a:ext cx="5141459" cy="1315324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ADA966B-4487-217F-DB6C-CC001A3B2E54}"/>
              </a:ext>
            </a:extLst>
          </p:cNvPr>
          <p:cNvSpPr txBox="1"/>
          <p:nvPr/>
        </p:nvSpPr>
        <p:spPr>
          <a:xfrm>
            <a:off x="6402859" y="3603864"/>
            <a:ext cx="374248" cy="21352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ADE80"/>
                </a:solidFill>
                <a:latin typeface="Calibri"/>
              </a:rPr>
              <a:t>04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5D52A40-525C-CCDC-291B-70BACE702B14}"/>
              </a:ext>
            </a:extLst>
          </p:cNvPr>
          <p:cNvSpPr txBox="1"/>
          <p:nvPr/>
        </p:nvSpPr>
        <p:spPr>
          <a:xfrm>
            <a:off x="6821661" y="3578240"/>
            <a:ext cx="4401873" cy="2562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BE5D8"/>
                </a:solidFill>
                <a:latin typeface="Calibri"/>
              </a:rPr>
              <a:t>iNGNN-DTI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98BF1D5-0F51-68B2-E327-4AB9C159916C}"/>
              </a:ext>
            </a:extLst>
          </p:cNvPr>
          <p:cNvSpPr txBox="1"/>
          <p:nvPr/>
        </p:nvSpPr>
        <p:spPr>
          <a:xfrm>
            <a:off x="6821661" y="3885719"/>
            <a:ext cx="4401873" cy="19644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A7568"/>
                </a:solidFill>
                <a:latin typeface="Calibri"/>
              </a:rPr>
              <a:t>Sun et al. · 2024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F758E07-B64F-031E-473B-4A6834B16BEA}"/>
              </a:ext>
            </a:extLst>
          </p:cNvPr>
          <p:cNvSpPr txBox="1"/>
          <p:nvPr/>
        </p:nvSpPr>
        <p:spPr>
          <a:xfrm>
            <a:off x="6402859" y="4159033"/>
            <a:ext cx="4414670" cy="3136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9" b="0" dirty="0">
                <a:solidFill>
                  <a:srgbClr val="B5AE9F"/>
                </a:solidFill>
                <a:latin typeface="Calibri"/>
              </a:rPr>
              <a:t>Interpretable nested GNN using pretrained molecular/protein representations and </a:t>
            </a:r>
            <a:endParaRPr lang="en-US" sz="1019" b="0" dirty="0">
              <a:solidFill>
                <a:srgbClr val="B5AE9F"/>
              </a:solidFill>
              <a:latin typeface="Calibri"/>
            </a:endParaRPr>
          </a:p>
          <a:p>
            <a:pPr algn="l"/>
            <a:r>
              <a:rPr sz="1019" b="0" dirty="0">
                <a:solidFill>
                  <a:srgbClr val="B5AE9F"/>
                </a:solidFill>
                <a:latin typeface="Calibri"/>
              </a:rPr>
              <a:t>cross-attention.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327E9F-37BA-BB1A-D5A2-0B7060FB6D26}"/>
              </a:ext>
            </a:extLst>
          </p:cNvPr>
          <p:cNvSpPr txBox="1"/>
          <p:nvPr/>
        </p:nvSpPr>
        <p:spPr>
          <a:xfrm>
            <a:off x="6402859" y="4560463"/>
            <a:ext cx="4820674" cy="1708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69" b="1">
                <a:solidFill>
                  <a:srgbClr val="4ADE80"/>
                </a:solidFill>
                <a:latin typeface="Calibri"/>
              </a:rPr>
              <a:t>PharmaLens: Explainability + unseen-entity reference.</a:t>
            </a:r>
          </a:p>
        </p:txBody>
      </p:sp>
      <p:sp>
        <p:nvSpPr>
          <p:cNvPr id="125" name="Rounded Rectangle 28">
            <a:extLst>
              <a:ext uri="{FF2B5EF4-FFF2-40B4-BE49-F238E27FC236}">
                <a16:creationId xmlns:a16="http://schemas.microsoft.com/office/drawing/2014/main" id="{4C74AA54-BD06-B2A9-6DE3-53BFCC16B8AD}"/>
              </a:ext>
            </a:extLst>
          </p:cNvPr>
          <p:cNvSpPr/>
          <p:nvPr/>
        </p:nvSpPr>
        <p:spPr>
          <a:xfrm>
            <a:off x="3503779" y="5021681"/>
            <a:ext cx="5141459" cy="1315324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C7954F6-CDB7-7B12-45EC-6538238921C0}"/>
              </a:ext>
            </a:extLst>
          </p:cNvPr>
          <p:cNvSpPr txBox="1"/>
          <p:nvPr/>
        </p:nvSpPr>
        <p:spPr>
          <a:xfrm>
            <a:off x="3664170" y="5149797"/>
            <a:ext cx="374248" cy="21352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ADE80"/>
                </a:solidFill>
                <a:latin typeface="Calibri"/>
              </a:rPr>
              <a:t>05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96EDCEE-2787-3DE2-1D13-22C26D7BFA65}"/>
              </a:ext>
            </a:extLst>
          </p:cNvPr>
          <p:cNvSpPr txBox="1"/>
          <p:nvPr/>
        </p:nvSpPr>
        <p:spPr>
          <a:xfrm>
            <a:off x="4082973" y="5124174"/>
            <a:ext cx="4401873" cy="2562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BE5D8"/>
                </a:solidFill>
                <a:latin typeface="Calibri"/>
              </a:rPr>
              <a:t>Explainability Methods for DTI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2F16AB39-0BC0-CF0A-D1F3-8815CF6210A2}"/>
              </a:ext>
            </a:extLst>
          </p:cNvPr>
          <p:cNvSpPr txBox="1"/>
          <p:nvPr/>
        </p:nvSpPr>
        <p:spPr>
          <a:xfrm>
            <a:off x="4082973" y="5431652"/>
            <a:ext cx="4401873" cy="19644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A7568"/>
                </a:solidFill>
                <a:latin typeface="Calibri"/>
              </a:rPr>
              <a:t>2026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1FF665AF-3417-993A-C288-DD0968015CD5}"/>
              </a:ext>
            </a:extLst>
          </p:cNvPr>
          <p:cNvSpPr txBox="1"/>
          <p:nvPr/>
        </p:nvSpPr>
        <p:spPr>
          <a:xfrm>
            <a:off x="3664170" y="5704966"/>
            <a:ext cx="4820674" cy="40997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B5AE9F"/>
                </a:solidFill>
                <a:latin typeface="Calibri"/>
              </a:rPr>
              <a:t>Compares attribution methods for identifying important drug atoms in DTI predictions.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2DD2191-6F0A-309E-1322-EA16F0D3770B}"/>
              </a:ext>
            </a:extLst>
          </p:cNvPr>
          <p:cNvSpPr txBox="1"/>
          <p:nvPr/>
        </p:nvSpPr>
        <p:spPr>
          <a:xfrm>
            <a:off x="3664170" y="6106396"/>
            <a:ext cx="4820674" cy="1708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69" b="1">
                <a:solidFill>
                  <a:srgbClr val="4ADE80"/>
                </a:solidFill>
                <a:latin typeface="Calibri"/>
              </a:rPr>
              <a:t>PharmaLens: Motivates an explicit XAI layer.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2A1DA9-6EFB-8685-F127-3B334B934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91FAED-C18B-A77E-DB3E-2FD510E9990F}"/>
              </a:ext>
            </a:extLst>
          </p:cNvPr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LITERATURE SURVEY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1F683A-A53F-E621-64F1-1DE3D7ECACDC}"/>
              </a:ext>
            </a:extLst>
          </p:cNvPr>
          <p:cNvSpPr txBox="1"/>
          <p:nvPr/>
        </p:nvSpPr>
        <p:spPr>
          <a:xfrm>
            <a:off x="64008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Research Papers (IEEE / Scopus Indexed)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A9FC3E-31BC-7104-EC23-20632AF8E17F}"/>
              </a:ext>
            </a:extLst>
          </p:cNvPr>
          <p:cNvSpPr txBox="1"/>
          <p:nvPr/>
        </p:nvSpPr>
        <p:spPr>
          <a:xfrm>
            <a:off x="809346" y="1606055"/>
            <a:ext cx="112577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EBE5D8"/>
                </a:solidFill>
                <a:latin typeface="Calibri"/>
              </a:rPr>
              <a:t>06 to 10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2CB1AF85-22D2-0BC7-5FB8-553472EA166E}"/>
              </a:ext>
            </a:extLst>
          </p:cNvPr>
          <p:cNvSpPr/>
          <p:nvPr/>
        </p:nvSpPr>
        <p:spPr>
          <a:xfrm>
            <a:off x="809347" y="2157081"/>
            <a:ext cx="5159012" cy="1266536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08D5A5-03AD-080B-A202-AD797EB1F81A}"/>
              </a:ext>
            </a:extLst>
          </p:cNvPr>
          <p:cNvSpPr txBox="1"/>
          <p:nvPr/>
        </p:nvSpPr>
        <p:spPr>
          <a:xfrm>
            <a:off x="970286" y="2280445"/>
            <a:ext cx="375526" cy="1384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ADE80"/>
                </a:solidFill>
                <a:latin typeface="Calibri"/>
              </a:rPr>
              <a:t>06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3B85F5-AC8A-2AE6-EB5D-3DAD767E7D59}"/>
              </a:ext>
            </a:extLst>
          </p:cNvPr>
          <p:cNvSpPr txBox="1"/>
          <p:nvPr/>
        </p:nvSpPr>
        <p:spPr>
          <a:xfrm>
            <a:off x="1390518" y="2255772"/>
            <a:ext cx="4416901" cy="207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BE5D8"/>
                </a:solidFill>
                <a:latin typeface="Calibri"/>
              </a:rPr>
              <a:t>MGraphDTA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AE790-8600-39B8-4578-D79117289C1C}"/>
              </a:ext>
            </a:extLst>
          </p:cNvPr>
          <p:cNvSpPr txBox="1"/>
          <p:nvPr/>
        </p:nvSpPr>
        <p:spPr>
          <a:xfrm>
            <a:off x="1390518" y="2551845"/>
            <a:ext cx="4416901" cy="131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A7568"/>
                </a:solidFill>
                <a:latin typeface="Calibri"/>
              </a:rPr>
              <a:t>Yang et al. · 2022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742256-7530-D26A-A0EF-D475475D6165}"/>
              </a:ext>
            </a:extLst>
          </p:cNvPr>
          <p:cNvSpPr txBox="1"/>
          <p:nvPr/>
        </p:nvSpPr>
        <p:spPr>
          <a:xfrm>
            <a:off x="970286" y="2815022"/>
            <a:ext cx="4837132" cy="1410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B5AE9F"/>
                </a:solidFill>
                <a:latin typeface="Calibri"/>
              </a:rPr>
              <a:t>Uses multiscale molecular graph representations for drug–target affinity prediction.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8C5BA0-FA87-4332-4B94-0404483B6283}"/>
              </a:ext>
            </a:extLst>
          </p:cNvPr>
          <p:cNvSpPr txBox="1"/>
          <p:nvPr/>
        </p:nvSpPr>
        <p:spPr>
          <a:xfrm>
            <a:off x="970286" y="3201562"/>
            <a:ext cx="4837132" cy="1203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69" b="1">
                <a:solidFill>
                  <a:srgbClr val="4ADE80"/>
                </a:solidFill>
                <a:latin typeface="Calibri"/>
              </a:rPr>
              <a:t>PharmaLens: Additional graph-model reference.</a:t>
            </a:r>
          </a:p>
        </p:txBody>
      </p:sp>
      <p:sp>
        <p:nvSpPr>
          <p:cNvPr id="20" name="Rounded Rectangle 10">
            <a:extLst>
              <a:ext uri="{FF2B5EF4-FFF2-40B4-BE49-F238E27FC236}">
                <a16:creationId xmlns:a16="http://schemas.microsoft.com/office/drawing/2014/main" id="{7AE561AE-B80D-A462-281B-E4A051C43587}"/>
              </a:ext>
            </a:extLst>
          </p:cNvPr>
          <p:cNvSpPr/>
          <p:nvPr/>
        </p:nvSpPr>
        <p:spPr>
          <a:xfrm>
            <a:off x="6317062" y="2157081"/>
            <a:ext cx="5159012" cy="1266536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EEC836-AAD4-9705-088E-C2B7EA3F9561}"/>
              </a:ext>
            </a:extLst>
          </p:cNvPr>
          <p:cNvSpPr txBox="1"/>
          <p:nvPr/>
        </p:nvSpPr>
        <p:spPr>
          <a:xfrm>
            <a:off x="6478002" y="2280445"/>
            <a:ext cx="375526" cy="1384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ADE80"/>
                </a:solidFill>
                <a:latin typeface="Calibri"/>
              </a:rPr>
              <a:t>07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209B8A-3420-8969-6F02-7FED3A0779F4}"/>
              </a:ext>
            </a:extLst>
          </p:cNvPr>
          <p:cNvSpPr txBox="1"/>
          <p:nvPr/>
        </p:nvSpPr>
        <p:spPr>
          <a:xfrm>
            <a:off x="6898233" y="2255772"/>
            <a:ext cx="4416901" cy="207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BE5D8"/>
                </a:solidFill>
                <a:latin typeface="Calibri"/>
              </a:rPr>
              <a:t>SimBoost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E7145F-BDF6-1A8C-B398-352110691F4B}"/>
              </a:ext>
            </a:extLst>
          </p:cNvPr>
          <p:cNvSpPr txBox="1"/>
          <p:nvPr/>
        </p:nvSpPr>
        <p:spPr>
          <a:xfrm>
            <a:off x="6898233" y="2551845"/>
            <a:ext cx="4416901" cy="131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A7568"/>
                </a:solidFill>
                <a:latin typeface="Calibri"/>
              </a:rPr>
              <a:t>He et al. · 2017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CB2900-E5C5-5D50-3C41-A731BAA7CC86}"/>
              </a:ext>
            </a:extLst>
          </p:cNvPr>
          <p:cNvSpPr txBox="1"/>
          <p:nvPr/>
        </p:nvSpPr>
        <p:spPr>
          <a:xfrm>
            <a:off x="6478002" y="2815022"/>
            <a:ext cx="4837132" cy="1410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B5AE9F"/>
                </a:solidFill>
                <a:latin typeface="Calibri"/>
              </a:rPr>
              <a:t>Gradient-boosting approach using drug/target similarity and interaction features.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F9432C-86D5-674D-739E-31E9AF83F6EB}"/>
              </a:ext>
            </a:extLst>
          </p:cNvPr>
          <p:cNvSpPr txBox="1"/>
          <p:nvPr/>
        </p:nvSpPr>
        <p:spPr>
          <a:xfrm>
            <a:off x="6478002" y="3201562"/>
            <a:ext cx="4837132" cy="1203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69" b="1">
                <a:solidFill>
                  <a:srgbClr val="4ADE80"/>
                </a:solidFill>
                <a:latin typeface="Calibri"/>
              </a:rPr>
              <a:t>PharmaLens: Classical ML baseline lineage.</a:t>
            </a:r>
          </a:p>
        </p:txBody>
      </p:sp>
      <p:sp>
        <p:nvSpPr>
          <p:cNvPr id="32" name="Rounded Rectangle 16">
            <a:extLst>
              <a:ext uri="{FF2B5EF4-FFF2-40B4-BE49-F238E27FC236}">
                <a16:creationId xmlns:a16="http://schemas.microsoft.com/office/drawing/2014/main" id="{7E4CD7EC-2859-2DC1-555F-FC25330BD8B0}"/>
              </a:ext>
            </a:extLst>
          </p:cNvPr>
          <p:cNvSpPr/>
          <p:nvPr/>
        </p:nvSpPr>
        <p:spPr>
          <a:xfrm>
            <a:off x="809347" y="3645672"/>
            <a:ext cx="5159012" cy="1266536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767419-F2C8-B916-B15B-AFE1AB467BD6}"/>
              </a:ext>
            </a:extLst>
          </p:cNvPr>
          <p:cNvSpPr txBox="1"/>
          <p:nvPr/>
        </p:nvSpPr>
        <p:spPr>
          <a:xfrm>
            <a:off x="970286" y="3769036"/>
            <a:ext cx="375526" cy="1384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ADE80"/>
                </a:solidFill>
                <a:latin typeface="Calibri"/>
              </a:rPr>
              <a:t>08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70ED73-1B7F-0456-DF24-470CB01445CD}"/>
              </a:ext>
            </a:extLst>
          </p:cNvPr>
          <p:cNvSpPr txBox="1"/>
          <p:nvPr/>
        </p:nvSpPr>
        <p:spPr>
          <a:xfrm>
            <a:off x="1390518" y="3744363"/>
            <a:ext cx="4416901" cy="207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BE5D8"/>
                </a:solidFill>
                <a:latin typeface="Calibri"/>
              </a:rPr>
              <a:t>KronRLS / Realistic DTI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BD1545-007E-C4FB-748A-518119543B36}"/>
              </a:ext>
            </a:extLst>
          </p:cNvPr>
          <p:cNvSpPr txBox="1"/>
          <p:nvPr/>
        </p:nvSpPr>
        <p:spPr>
          <a:xfrm>
            <a:off x="1390518" y="4040437"/>
            <a:ext cx="4416901" cy="131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A7568"/>
                </a:solidFill>
                <a:latin typeface="Calibri"/>
              </a:rPr>
              <a:t>Pahikkala et al. · 2015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3EFDC8-BA1C-5B4C-4078-56E0E47B2609}"/>
              </a:ext>
            </a:extLst>
          </p:cNvPr>
          <p:cNvSpPr txBox="1"/>
          <p:nvPr/>
        </p:nvSpPr>
        <p:spPr>
          <a:xfrm>
            <a:off x="970286" y="4303613"/>
            <a:ext cx="4837132" cy="1410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B5AE9F"/>
                </a:solidFill>
                <a:latin typeface="Calibri"/>
              </a:rPr>
              <a:t>Kernel-based DTI prediction with attention to realistic cold-start evaluation.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9FE0F99-30C5-0474-82F5-CA00E594D0A2}"/>
              </a:ext>
            </a:extLst>
          </p:cNvPr>
          <p:cNvSpPr txBox="1"/>
          <p:nvPr/>
        </p:nvSpPr>
        <p:spPr>
          <a:xfrm>
            <a:off x="970286" y="4690153"/>
            <a:ext cx="4837132" cy="1203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69" b="1">
                <a:solidFill>
                  <a:srgbClr val="4ADE80"/>
                </a:solidFill>
                <a:latin typeface="Calibri"/>
              </a:rPr>
              <a:t>PharmaLens: Unseen-drug/target evaluation reference.</a:t>
            </a:r>
          </a:p>
        </p:txBody>
      </p:sp>
      <p:sp>
        <p:nvSpPr>
          <p:cNvPr id="44" name="Rounded Rectangle 22">
            <a:extLst>
              <a:ext uri="{FF2B5EF4-FFF2-40B4-BE49-F238E27FC236}">
                <a16:creationId xmlns:a16="http://schemas.microsoft.com/office/drawing/2014/main" id="{142525DB-EBED-57E7-D37A-997DE253F31B}"/>
              </a:ext>
            </a:extLst>
          </p:cNvPr>
          <p:cNvSpPr/>
          <p:nvPr/>
        </p:nvSpPr>
        <p:spPr>
          <a:xfrm>
            <a:off x="6317062" y="3645672"/>
            <a:ext cx="5159012" cy="1266536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D45E7C-8B3C-6BE7-04A2-49BF602796A3}"/>
              </a:ext>
            </a:extLst>
          </p:cNvPr>
          <p:cNvSpPr txBox="1"/>
          <p:nvPr/>
        </p:nvSpPr>
        <p:spPr>
          <a:xfrm>
            <a:off x="6478002" y="3769036"/>
            <a:ext cx="375526" cy="1384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ADE80"/>
                </a:solidFill>
                <a:latin typeface="Calibri"/>
              </a:rPr>
              <a:t>09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D30AE4-E7B0-FF08-E116-23FDD72C7900}"/>
              </a:ext>
            </a:extLst>
          </p:cNvPr>
          <p:cNvSpPr txBox="1"/>
          <p:nvPr/>
        </p:nvSpPr>
        <p:spPr>
          <a:xfrm>
            <a:off x="6898233" y="3744363"/>
            <a:ext cx="4416901" cy="207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BE5D8"/>
                </a:solidFill>
                <a:latin typeface="Calibri"/>
              </a:rPr>
              <a:t>DeepConv-DTI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F4DBEF-53B7-8FED-E787-3D7130C4FE58}"/>
              </a:ext>
            </a:extLst>
          </p:cNvPr>
          <p:cNvSpPr txBox="1"/>
          <p:nvPr/>
        </p:nvSpPr>
        <p:spPr>
          <a:xfrm>
            <a:off x="6898233" y="4040437"/>
            <a:ext cx="4416901" cy="131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A7568"/>
                </a:solidFill>
                <a:latin typeface="Calibri"/>
              </a:rPr>
              <a:t>Lee et al. · 2019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D59FAA-8FC3-834A-8C68-4435A828EA46}"/>
              </a:ext>
            </a:extLst>
          </p:cNvPr>
          <p:cNvSpPr txBox="1"/>
          <p:nvPr/>
        </p:nvSpPr>
        <p:spPr>
          <a:xfrm>
            <a:off x="6478002" y="4303613"/>
            <a:ext cx="4837132" cy="1410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B5AE9F"/>
                </a:solidFill>
                <a:latin typeface="Calibri"/>
              </a:rPr>
              <a:t>CNN architecture for learning drug and protein representations for DTI prediction.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FC5385-0224-94F8-6A2F-5E25EEF8F6C8}"/>
              </a:ext>
            </a:extLst>
          </p:cNvPr>
          <p:cNvSpPr txBox="1"/>
          <p:nvPr/>
        </p:nvSpPr>
        <p:spPr>
          <a:xfrm>
            <a:off x="6478002" y="4690153"/>
            <a:ext cx="4837132" cy="1203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69" b="1">
                <a:solidFill>
                  <a:srgbClr val="4ADE80"/>
                </a:solidFill>
                <a:latin typeface="Calibri"/>
              </a:rPr>
              <a:t>PharmaLens: Additional CNN comparison reference.</a:t>
            </a:r>
          </a:p>
        </p:txBody>
      </p:sp>
      <p:sp>
        <p:nvSpPr>
          <p:cNvPr id="56" name="Rounded Rectangle 28">
            <a:extLst>
              <a:ext uri="{FF2B5EF4-FFF2-40B4-BE49-F238E27FC236}">
                <a16:creationId xmlns:a16="http://schemas.microsoft.com/office/drawing/2014/main" id="{53475083-4F48-1978-48BE-B1BD595F1D9D}"/>
              </a:ext>
            </a:extLst>
          </p:cNvPr>
          <p:cNvSpPr/>
          <p:nvPr/>
        </p:nvSpPr>
        <p:spPr>
          <a:xfrm>
            <a:off x="3722663" y="5134264"/>
            <a:ext cx="5159012" cy="1266536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1A8CD63-E67D-F90A-9D03-6C6A95711EC0}"/>
              </a:ext>
            </a:extLst>
          </p:cNvPr>
          <p:cNvSpPr txBox="1"/>
          <p:nvPr/>
        </p:nvSpPr>
        <p:spPr>
          <a:xfrm>
            <a:off x="3883602" y="5257628"/>
            <a:ext cx="375526" cy="1384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ADE80"/>
                </a:solidFill>
                <a:latin typeface="Calibri"/>
              </a:rPr>
              <a:t>10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B5D120-6FF0-CBBC-9D96-67D0EC96DCA1}"/>
              </a:ext>
            </a:extLst>
          </p:cNvPr>
          <p:cNvSpPr txBox="1"/>
          <p:nvPr/>
        </p:nvSpPr>
        <p:spPr>
          <a:xfrm>
            <a:off x="4303834" y="5232955"/>
            <a:ext cx="4416901" cy="207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BE5D8"/>
                </a:solidFill>
                <a:latin typeface="Calibri"/>
              </a:rPr>
              <a:t>MolTrans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B9DF9B-D1B1-D10C-CA54-54DB7914E991}"/>
              </a:ext>
            </a:extLst>
          </p:cNvPr>
          <p:cNvSpPr txBox="1"/>
          <p:nvPr/>
        </p:nvSpPr>
        <p:spPr>
          <a:xfrm>
            <a:off x="4303834" y="5529028"/>
            <a:ext cx="4416901" cy="131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A7568"/>
                </a:solidFill>
                <a:latin typeface="Calibri"/>
              </a:rPr>
              <a:t>Huang et al. · 2021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AC5F21-E7F3-6308-1C3A-AA16A0E6B2F6}"/>
              </a:ext>
            </a:extLst>
          </p:cNvPr>
          <p:cNvSpPr txBox="1"/>
          <p:nvPr/>
        </p:nvSpPr>
        <p:spPr>
          <a:xfrm>
            <a:off x="3883602" y="5792205"/>
            <a:ext cx="4837132" cy="28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B5AE9F"/>
                </a:solidFill>
                <a:latin typeface="Calibri"/>
              </a:rPr>
              <a:t>Transformer-based DTI model using substructure-aware representations and interaction modeling.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2798EE9-4BB7-F3CD-D053-65F915D143EC}"/>
              </a:ext>
            </a:extLst>
          </p:cNvPr>
          <p:cNvSpPr txBox="1"/>
          <p:nvPr/>
        </p:nvSpPr>
        <p:spPr>
          <a:xfrm>
            <a:off x="3883602" y="6178745"/>
            <a:ext cx="4837132" cy="1203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69" b="1">
                <a:solidFill>
                  <a:srgbClr val="4ADE80"/>
                </a:solidFill>
                <a:latin typeface="Calibri"/>
              </a:rPr>
              <a:t>PharmaLens: Transformer-model reference.</a:t>
            </a:r>
          </a:p>
        </p:txBody>
      </p:sp>
    </p:spTree>
    <p:extLst>
      <p:ext uri="{BB962C8B-B14F-4D97-AF65-F5344CB8AC3E}">
        <p14:creationId xmlns:p14="http://schemas.microsoft.com/office/powerpoint/2010/main" val="4012515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COMPARATIVE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Existing Systems vs PharmaLens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394167"/>
              </p:ext>
            </p:extLst>
          </p:nvPr>
        </p:nvGraphicFramePr>
        <p:xfrm>
          <a:off x="640080" y="1980275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4E4A44"/>
                          </a:solidFill>
                          <a:latin typeface="Calibri"/>
                        </a:defRPr>
                      </a:pPr>
                      <a:r>
                        <a:rPr dirty="0"/>
                        <a:t>Feature</a:t>
                      </a:r>
                    </a:p>
                  </a:txBody>
                  <a:tcPr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4E4A44"/>
                          </a:solidFill>
                          <a:latin typeface="Calibri"/>
                        </a:defRPr>
                      </a:pPr>
                      <a:r>
                        <a:t>DeepDTA '18</a:t>
                      </a:r>
                    </a:p>
                  </a:txBody>
                  <a:tcPr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4E4A44"/>
                          </a:solidFill>
                          <a:latin typeface="Calibri"/>
                        </a:defRPr>
                      </a:pPr>
                      <a:r>
                        <a:t>GraphDTA '21</a:t>
                      </a:r>
                    </a:p>
                  </a:txBody>
                  <a:tcPr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4E4A44"/>
                          </a:solidFill>
                          <a:latin typeface="Calibri"/>
                        </a:defRPr>
                      </a:pPr>
                      <a:r>
                        <a:t>MGraphDTA '22</a:t>
                      </a:r>
                    </a:p>
                  </a:txBody>
                  <a:tcPr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PharmaLens</a:t>
                      </a:r>
                    </a:p>
                  </a:txBody>
                  <a:tcPr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Multi-model comparison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✓ 7 models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Traditional ML baselines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✓ Ridge, RF, XGBoost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Deep Learning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CNN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GNN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Multi-GNN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✓ CNN + GNN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Explainability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✓ SHAP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Cold-start evaluation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Partial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✓ Drug + Target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Hyperparameter tuning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✓ Bayesian (Optuna)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Web application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✓ FastAPI + UI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dirty="0"/>
                        <a:t>Batch screening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rPr dirty="0"/>
                        <a:t>✓ Drug × Target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E881E4-1153-74B2-BC6D-CBDFF75D00A8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B35DA-792E-9269-8B46-E81FDCF14753}"/>
              </a:ext>
            </a:extLst>
          </p:cNvPr>
          <p:cNvSpPr txBox="1"/>
          <p:nvPr/>
        </p:nvSpPr>
        <p:spPr>
          <a:xfrm>
            <a:off x="640080" y="420624"/>
            <a:ext cx="5029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alibri"/>
              </a:rPr>
              <a:t>RESEARCH GAP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341F49-A999-E5A6-C003-0A54536133BB}"/>
              </a:ext>
            </a:extLst>
          </p:cNvPr>
          <p:cNvSpPr txBox="1"/>
          <p:nvPr/>
        </p:nvSpPr>
        <p:spPr>
          <a:xfrm>
            <a:off x="640080" y="804672"/>
            <a:ext cx="10789920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EBE5D8"/>
                </a:solidFill>
                <a:latin typeface="Calibri"/>
              </a:rPr>
              <a:t>What PharmaLens Adds Beyond Individual Studies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9AD620E9-0B81-2BA6-F734-0C56D89024A5}"/>
              </a:ext>
            </a:extLst>
          </p:cNvPr>
          <p:cNvSpPr/>
          <p:nvPr/>
        </p:nvSpPr>
        <p:spPr>
          <a:xfrm>
            <a:off x="640080" y="1417320"/>
            <a:ext cx="3337560" cy="4526280"/>
          </a:xfrm>
          <a:prstGeom prst="roundRect">
            <a:avLst/>
          </a:prstGeom>
          <a:solidFill>
            <a:srgbClr val="151515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F662DC-FE80-29B7-3A35-7311021B0638}"/>
              </a:ext>
            </a:extLst>
          </p:cNvPr>
          <p:cNvSpPr txBox="1"/>
          <p:nvPr/>
        </p:nvSpPr>
        <p:spPr>
          <a:xfrm>
            <a:off x="841248" y="1645920"/>
            <a:ext cx="2907792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ADE80"/>
                </a:solidFill>
                <a:latin typeface="Calibri"/>
              </a:rPr>
              <a:t>IDENTIFIED GAP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40E362-676D-5848-14BA-E717EB949D72}"/>
              </a:ext>
            </a:extLst>
          </p:cNvPr>
          <p:cNvSpPr txBox="1"/>
          <p:nvPr/>
        </p:nvSpPr>
        <p:spPr>
          <a:xfrm>
            <a:off x="841248" y="1993392"/>
            <a:ext cx="2907792" cy="78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/>
            <a:r>
              <a:rPr sz="1700" b="1" dirty="0">
                <a:solidFill>
                  <a:srgbClr val="EBE5D8"/>
                </a:solidFill>
                <a:latin typeface="Calibri"/>
              </a:rPr>
              <a:t>Most studies are centered on a model, representation or a specific evaluation question.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8ABE27-C2AC-ED0B-D59E-86FC3DA7DF0C}"/>
              </a:ext>
            </a:extLst>
          </p:cNvPr>
          <p:cNvSpPr txBox="1"/>
          <p:nvPr/>
        </p:nvSpPr>
        <p:spPr>
          <a:xfrm>
            <a:off x="841248" y="3273552"/>
            <a:ext cx="2907792" cy="1115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/>
            <a:r>
              <a:rPr sz="1400" b="0" dirty="0" err="1">
                <a:solidFill>
                  <a:srgbClr val="B5AE9F"/>
                </a:solidFill>
                <a:latin typeface="Calibri"/>
              </a:rPr>
              <a:t>PharmaLens</a:t>
            </a:r>
            <a:r>
              <a:rPr sz="1400" b="0" dirty="0">
                <a:solidFill>
                  <a:srgbClr val="B5AE9F"/>
                </a:solidFill>
                <a:latin typeface="Calibri"/>
              </a:rPr>
              <a:t> combines model comparison, generalization testing, explainability and candidate prioritization around one KIBA workflow.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9D509E-C568-2D2B-419E-599F85F56C0A}"/>
              </a:ext>
            </a:extLst>
          </p:cNvPr>
          <p:cNvSpPr txBox="1"/>
          <p:nvPr/>
        </p:nvSpPr>
        <p:spPr>
          <a:xfrm>
            <a:off x="841248" y="4815563"/>
            <a:ext cx="2907792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/>
            <a:r>
              <a:rPr sz="1400" b="0" dirty="0">
                <a:solidFill>
                  <a:srgbClr val="7A7568"/>
                </a:solidFill>
                <a:latin typeface="Calibri"/>
              </a:rPr>
              <a:t>Contribution = integration + systematic evaluation, not claiming that each component is individually new.</a:t>
            </a:r>
          </a:p>
        </p:txBody>
      </p:sp>
      <p:sp>
        <p:nvSpPr>
          <p:cNvPr id="19" name="Rounded Rectangle 9">
            <a:extLst>
              <a:ext uri="{FF2B5EF4-FFF2-40B4-BE49-F238E27FC236}">
                <a16:creationId xmlns:a16="http://schemas.microsoft.com/office/drawing/2014/main" id="{04CC8D2B-CC33-B4C9-8D6B-EE8840618F0C}"/>
              </a:ext>
            </a:extLst>
          </p:cNvPr>
          <p:cNvSpPr/>
          <p:nvPr/>
        </p:nvSpPr>
        <p:spPr>
          <a:xfrm>
            <a:off x="4224528" y="1417320"/>
            <a:ext cx="7306056" cy="713232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55B9A-7A58-DB4E-B4EF-B21FDD496322}"/>
              </a:ext>
            </a:extLst>
          </p:cNvPr>
          <p:cNvSpPr txBox="1"/>
          <p:nvPr/>
        </p:nvSpPr>
        <p:spPr>
          <a:xfrm>
            <a:off x="4407408" y="1699953"/>
            <a:ext cx="182742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ADE80"/>
                </a:solidFill>
                <a:latin typeface="Calibri"/>
              </a:rPr>
              <a:t>01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3C380E-2FCB-34E0-E176-3AD5B5410742}"/>
              </a:ext>
            </a:extLst>
          </p:cNvPr>
          <p:cNvSpPr txBox="1"/>
          <p:nvPr/>
        </p:nvSpPr>
        <p:spPr>
          <a:xfrm>
            <a:off x="4882896" y="1691085"/>
            <a:ext cx="2030620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BE5D8"/>
                </a:solidFill>
                <a:latin typeface="Calibri"/>
              </a:rPr>
              <a:t>Unified 7-model evaluation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D8D1B3-DDE1-B5EA-D57D-6D37BCF2BDE2}"/>
              </a:ext>
            </a:extLst>
          </p:cNvPr>
          <p:cNvSpPr txBox="1"/>
          <p:nvPr/>
        </p:nvSpPr>
        <p:spPr>
          <a:xfrm>
            <a:off x="7702014" y="1515684"/>
            <a:ext cx="3644855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/>
            <a:r>
              <a:rPr sz="1200" b="0" dirty="0">
                <a:solidFill>
                  <a:srgbClr val="B5AE9F"/>
                </a:solidFill>
                <a:latin typeface="Calibri"/>
              </a:rPr>
              <a:t>Classical ML + </a:t>
            </a:r>
            <a:r>
              <a:rPr sz="1200" b="0" dirty="0" err="1">
                <a:solidFill>
                  <a:srgbClr val="B5AE9F"/>
                </a:solidFill>
                <a:latin typeface="Calibri"/>
              </a:rPr>
              <a:t>XGBoost</a:t>
            </a:r>
            <a:r>
              <a:rPr sz="1200" b="0" dirty="0">
                <a:solidFill>
                  <a:srgbClr val="B5AE9F"/>
                </a:solidFill>
                <a:latin typeface="Calibri"/>
              </a:rPr>
              <a:t> + CNN + GNN models are compared under the same dataset and evaluation pipeline.</a:t>
            </a:r>
          </a:p>
        </p:txBody>
      </p:sp>
      <p:sp>
        <p:nvSpPr>
          <p:cNvPr id="27" name="Rounded Rectangle 13">
            <a:extLst>
              <a:ext uri="{FF2B5EF4-FFF2-40B4-BE49-F238E27FC236}">
                <a16:creationId xmlns:a16="http://schemas.microsoft.com/office/drawing/2014/main" id="{FF8A7787-BBF8-AE5C-58E8-427B264E1B87}"/>
              </a:ext>
            </a:extLst>
          </p:cNvPr>
          <p:cNvSpPr/>
          <p:nvPr/>
        </p:nvSpPr>
        <p:spPr>
          <a:xfrm>
            <a:off x="4224528" y="2286000"/>
            <a:ext cx="7306056" cy="713232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89C315-E995-7829-14E5-1B898590332E}"/>
              </a:ext>
            </a:extLst>
          </p:cNvPr>
          <p:cNvSpPr txBox="1"/>
          <p:nvPr/>
        </p:nvSpPr>
        <p:spPr>
          <a:xfrm>
            <a:off x="4407408" y="2568633"/>
            <a:ext cx="182742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ADE80"/>
                </a:solidFill>
                <a:latin typeface="Calibri"/>
              </a:rPr>
              <a:t>02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A68BFF-53FC-C9D1-BAE1-BF9001D51D91}"/>
              </a:ext>
            </a:extLst>
          </p:cNvPr>
          <p:cNvSpPr txBox="1"/>
          <p:nvPr/>
        </p:nvSpPr>
        <p:spPr>
          <a:xfrm>
            <a:off x="4882896" y="2559765"/>
            <a:ext cx="2592056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BE5D8"/>
                </a:solidFill>
                <a:latin typeface="Calibri"/>
              </a:rPr>
              <a:t>Engineered hybrid feature pipeline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06572A-7022-7C38-DD1A-6474ACE01044}"/>
              </a:ext>
            </a:extLst>
          </p:cNvPr>
          <p:cNvSpPr txBox="1"/>
          <p:nvPr/>
        </p:nvSpPr>
        <p:spPr>
          <a:xfrm>
            <a:off x="7702014" y="2453637"/>
            <a:ext cx="364485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/>
            <a:r>
              <a:rPr sz="1200" b="0" dirty="0">
                <a:solidFill>
                  <a:srgbClr val="B5AE9F"/>
                </a:solidFill>
                <a:latin typeface="Calibri"/>
              </a:rPr>
              <a:t>Drug: descriptors + Morgan fingerprint. Protein: AAC + DPC. Combined 1454-D representation for ML baselines.</a:t>
            </a:r>
          </a:p>
        </p:txBody>
      </p:sp>
      <p:sp>
        <p:nvSpPr>
          <p:cNvPr id="35" name="Rounded Rectangle 17">
            <a:extLst>
              <a:ext uri="{FF2B5EF4-FFF2-40B4-BE49-F238E27FC236}">
                <a16:creationId xmlns:a16="http://schemas.microsoft.com/office/drawing/2014/main" id="{F595984B-E0F9-2B13-CA41-17170D44FAB7}"/>
              </a:ext>
            </a:extLst>
          </p:cNvPr>
          <p:cNvSpPr/>
          <p:nvPr/>
        </p:nvSpPr>
        <p:spPr>
          <a:xfrm>
            <a:off x="4224528" y="3154680"/>
            <a:ext cx="7306056" cy="713232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316EE8-F7EF-48FC-31A6-26EE735CC400}"/>
              </a:ext>
            </a:extLst>
          </p:cNvPr>
          <p:cNvSpPr txBox="1"/>
          <p:nvPr/>
        </p:nvSpPr>
        <p:spPr>
          <a:xfrm>
            <a:off x="4407408" y="3437313"/>
            <a:ext cx="182742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ADE80"/>
                </a:solidFill>
                <a:latin typeface="Calibri"/>
              </a:rPr>
              <a:t>03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F0D39E-F6FB-0A30-C48D-51DB13BAB49A}"/>
              </a:ext>
            </a:extLst>
          </p:cNvPr>
          <p:cNvSpPr txBox="1"/>
          <p:nvPr/>
        </p:nvSpPr>
        <p:spPr>
          <a:xfrm>
            <a:off x="4882896" y="3428445"/>
            <a:ext cx="2450992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BE5D8"/>
                </a:solidFill>
                <a:latin typeface="Calibri"/>
              </a:rPr>
              <a:t>Generalization is a first-class test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C397B7-003C-3BE7-89B8-A913E5877711}"/>
              </a:ext>
            </a:extLst>
          </p:cNvPr>
          <p:cNvSpPr txBox="1"/>
          <p:nvPr/>
        </p:nvSpPr>
        <p:spPr>
          <a:xfrm>
            <a:off x="7702014" y="3336167"/>
            <a:ext cx="364485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/>
            <a:r>
              <a:rPr sz="1200" b="0" dirty="0">
                <a:solidFill>
                  <a:srgbClr val="B5AE9F"/>
                </a:solidFill>
                <a:latin typeface="Calibri"/>
              </a:rPr>
              <a:t>Performance is examined in random/warm settings and in cold-drug and cold-target settings.</a:t>
            </a:r>
          </a:p>
        </p:txBody>
      </p:sp>
      <p:sp>
        <p:nvSpPr>
          <p:cNvPr id="43" name="Rounded Rectangle 21">
            <a:extLst>
              <a:ext uri="{FF2B5EF4-FFF2-40B4-BE49-F238E27FC236}">
                <a16:creationId xmlns:a16="http://schemas.microsoft.com/office/drawing/2014/main" id="{B0CE8308-B4F6-529E-60F0-344F8E9C078A}"/>
              </a:ext>
            </a:extLst>
          </p:cNvPr>
          <p:cNvSpPr/>
          <p:nvPr/>
        </p:nvSpPr>
        <p:spPr>
          <a:xfrm>
            <a:off x="4224528" y="4023360"/>
            <a:ext cx="7306056" cy="713232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6375EA-B4C9-4717-82DD-48A847E5B73C}"/>
              </a:ext>
            </a:extLst>
          </p:cNvPr>
          <p:cNvSpPr txBox="1"/>
          <p:nvPr/>
        </p:nvSpPr>
        <p:spPr>
          <a:xfrm>
            <a:off x="4407408" y="4305993"/>
            <a:ext cx="182742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ADE80"/>
                </a:solidFill>
                <a:latin typeface="Calibri"/>
              </a:rPr>
              <a:t>04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DBD38EA-5640-3C73-6892-BF15A0365111}"/>
              </a:ext>
            </a:extLst>
          </p:cNvPr>
          <p:cNvSpPr txBox="1"/>
          <p:nvPr/>
        </p:nvSpPr>
        <p:spPr>
          <a:xfrm>
            <a:off x="4882896" y="4297125"/>
            <a:ext cx="2685800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BE5D8"/>
                </a:solidFill>
                <a:latin typeface="Calibri"/>
              </a:rPr>
              <a:t>Prediction → explanation → ranking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8EA1E8-27D1-536C-4E46-9740D67463A2}"/>
              </a:ext>
            </a:extLst>
          </p:cNvPr>
          <p:cNvSpPr txBox="1"/>
          <p:nvPr/>
        </p:nvSpPr>
        <p:spPr>
          <a:xfrm>
            <a:off x="7702015" y="4121724"/>
            <a:ext cx="3644854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/>
            <a:r>
              <a:rPr sz="1200" b="0" dirty="0">
                <a:solidFill>
                  <a:srgbClr val="B5AE9F"/>
                </a:solidFill>
                <a:latin typeface="Calibri"/>
              </a:rPr>
              <a:t>The system connects affinity prediction with SHAP interpretation, batch screening and candidate prioritization.</a:t>
            </a:r>
          </a:p>
        </p:txBody>
      </p:sp>
      <p:sp>
        <p:nvSpPr>
          <p:cNvPr id="51" name="Rounded Rectangle 25">
            <a:extLst>
              <a:ext uri="{FF2B5EF4-FFF2-40B4-BE49-F238E27FC236}">
                <a16:creationId xmlns:a16="http://schemas.microsoft.com/office/drawing/2014/main" id="{2AC28C88-9C64-65EC-3A1B-0CD4D17D1026}"/>
              </a:ext>
            </a:extLst>
          </p:cNvPr>
          <p:cNvSpPr/>
          <p:nvPr/>
        </p:nvSpPr>
        <p:spPr>
          <a:xfrm>
            <a:off x="4224528" y="4892040"/>
            <a:ext cx="7306056" cy="713232"/>
          </a:xfrm>
          <a:prstGeom prst="roundRect">
            <a:avLst/>
          </a:prstGeom>
          <a:solidFill>
            <a:srgbClr val="1B1B1B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D2E3110-7F2C-73EF-F716-8459FA92F4E6}"/>
              </a:ext>
            </a:extLst>
          </p:cNvPr>
          <p:cNvSpPr txBox="1"/>
          <p:nvPr/>
        </p:nvSpPr>
        <p:spPr>
          <a:xfrm>
            <a:off x="4407408" y="5174673"/>
            <a:ext cx="182742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ADE80"/>
                </a:solidFill>
                <a:latin typeface="Calibri"/>
              </a:rPr>
              <a:t>05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241915B-8FF7-188E-0C8C-AC4CACE1EA5B}"/>
              </a:ext>
            </a:extLst>
          </p:cNvPr>
          <p:cNvSpPr txBox="1"/>
          <p:nvPr/>
        </p:nvSpPr>
        <p:spPr>
          <a:xfrm>
            <a:off x="4882896" y="5165805"/>
            <a:ext cx="2473049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BE5D8"/>
                </a:solidFill>
                <a:latin typeface="Calibri"/>
              </a:rPr>
              <a:t>Research model → usable system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2394645-50C5-0D92-6ABB-27B3EF73F23F}"/>
              </a:ext>
            </a:extLst>
          </p:cNvPr>
          <p:cNvSpPr txBox="1"/>
          <p:nvPr/>
        </p:nvSpPr>
        <p:spPr>
          <a:xfrm>
            <a:off x="7702014" y="5052745"/>
            <a:ext cx="364485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B5AE9F"/>
                </a:solidFill>
                <a:latin typeface="Calibri"/>
              </a:rPr>
              <a:t>The capabilities are exposed through validation, interactive prediction and a REST/API-oriented workflow.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4B891D-5E84-A9F6-9FBC-87873D39464E}"/>
              </a:ext>
            </a:extLst>
          </p:cNvPr>
          <p:cNvSpPr txBox="1"/>
          <p:nvPr/>
        </p:nvSpPr>
        <p:spPr>
          <a:xfrm>
            <a:off x="4224528" y="5897880"/>
            <a:ext cx="730605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950" b="1">
                <a:solidFill>
                  <a:srgbClr val="4ADE80"/>
                </a:solidFill>
                <a:latin typeface="Calibri"/>
              </a:rPr>
              <a:t>PROJECT-LEVEL DIFFERENTIATOR  ·  one integrated, interpretable DTI pipeline</a:t>
            </a:r>
          </a:p>
        </p:txBody>
      </p:sp>
    </p:spTree>
    <p:extLst>
      <p:ext uri="{BB962C8B-B14F-4D97-AF65-F5344CB8AC3E}">
        <p14:creationId xmlns:p14="http://schemas.microsoft.com/office/powerpoint/2010/main" val="1009008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TOOLS &amp;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3023"/>
            <a:ext cx="3313076" cy="1891433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4139" y="1826535"/>
            <a:ext cx="294495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BE5D8"/>
                </a:solidFill>
                <a:latin typeface="Calibri"/>
              </a:defRPr>
            </a:pPr>
            <a:r>
              <a:rPr sz="1600"/>
              <a:t>🐍 Language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4139" y="2397106"/>
            <a:ext cx="29449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5AE9F"/>
                </a:solidFill>
                <a:latin typeface="Calibri"/>
              </a:defRPr>
            </a:pPr>
            <a:r>
              <a:rPr sz="1400"/>
              <a:t>Python 3.12 · JavaScript ES6+ · HTML5/CSS3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9246" y="1693023"/>
            <a:ext cx="3497136" cy="1891433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13306" y="1826535"/>
            <a:ext cx="3129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BE5D8"/>
                </a:solidFill>
                <a:latin typeface="Calibri"/>
              </a:defRPr>
            </a:pPr>
            <a:r>
              <a:rPr sz="1600"/>
              <a:t>📊 ML &amp;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306" y="2397106"/>
            <a:ext cx="312901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5AE9F"/>
                </a:solidFill>
                <a:latin typeface="Calibri"/>
              </a:defRPr>
            </a:pPr>
            <a:r>
              <a:rPr sz="1400"/>
              <a:t>scikit-learn 1.3+ · XGBoost 2.0+ · Optuna 3.0+</a:t>
            </a:r>
            <a:br>
              <a:rPr sz="1400"/>
            </a:br>
            <a:r>
              <a:rPr sz="1400"/>
              <a:t>NumPy 1.24+ · Pandas 2.0+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2470" y="1693023"/>
            <a:ext cx="3589166" cy="1891433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6530" y="1826535"/>
            <a:ext cx="3221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BE5D8"/>
                </a:solidFill>
                <a:latin typeface="Calibri"/>
              </a:defRPr>
            </a:pPr>
            <a:r>
              <a:rPr sz="1600"/>
              <a:t>🧠 Deep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6530" y="2397106"/>
            <a:ext cx="32210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5AE9F"/>
                </a:solidFill>
                <a:latin typeface="Calibri"/>
              </a:defRPr>
            </a:pPr>
            <a:r>
              <a:rPr sz="1400"/>
              <a:t>PyTorch 2.0+ · PyTorch Geometric 2.4+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18239"/>
            <a:ext cx="3313076" cy="1891433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139" y="4051752"/>
            <a:ext cx="294495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BE5D8"/>
                </a:solidFill>
                <a:latin typeface="Calibri"/>
              </a:defRPr>
            </a:pPr>
            <a:r>
              <a:rPr sz="1600"/>
              <a:t>⚗️ Chemistry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139" y="4622322"/>
            <a:ext cx="294495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5AE9F"/>
                </a:solidFill>
                <a:latin typeface="Calibri"/>
              </a:defRPr>
            </a:pPr>
            <a:r>
              <a:rPr sz="1400"/>
              <a:t>RDKit 2024.03+</a:t>
            </a:r>
            <a:br>
              <a:rPr sz="1400"/>
            </a:br>
            <a:r>
              <a:rPr sz="1400"/>
              <a:t>SMILES validation, descriptors, fingerprints, graphs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9246" y="3918239"/>
            <a:ext cx="3497136" cy="1891433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13306" y="4051752"/>
            <a:ext cx="3129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BE5D8"/>
                </a:solidFill>
                <a:latin typeface="Calibri"/>
              </a:defRPr>
            </a:pPr>
            <a:r>
              <a:rPr sz="1600"/>
              <a:t>💡 Explainability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3306" y="4622322"/>
            <a:ext cx="312901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5AE9F"/>
                </a:solidFill>
                <a:latin typeface="Calibri"/>
              </a:defRPr>
            </a:pPr>
            <a:r>
              <a:rPr sz="1400"/>
              <a:t>SHAP 0.43+</a:t>
            </a:r>
            <a:br>
              <a:rPr sz="1400"/>
            </a:br>
            <a:r>
              <a:rPr sz="1400"/>
              <a:t>TreeExplainer, summary, waterfall, dependence plots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2470" y="3918239"/>
            <a:ext cx="3589166" cy="1891433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6530" y="4051752"/>
            <a:ext cx="3221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BE5D8"/>
                </a:solidFill>
                <a:latin typeface="Calibri"/>
              </a:defRPr>
            </a:pPr>
            <a:r>
              <a:rPr sz="1600"/>
              <a:t>🌐 Web &amp; Viz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6530" y="4622322"/>
            <a:ext cx="32210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5AE9F"/>
                </a:solidFill>
                <a:latin typeface="Calibri"/>
              </a:defRPr>
            </a:pPr>
            <a:r>
              <a:rPr sz="1400"/>
              <a:t>FastAPI 0.100+ · Uvicorn 0.23+</a:t>
            </a:r>
            <a:br>
              <a:rPr sz="1400"/>
            </a:br>
            <a:r>
              <a:rPr sz="1400"/>
              <a:t>Matplotlib 3.7+ · Seaborn 0.12+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System Capabilities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119846"/>
              </p:ext>
            </p:extLst>
          </p:nvPr>
        </p:nvGraphicFramePr>
        <p:xfrm>
          <a:off x="640080" y="1499984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75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4E4A44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4E4A44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FR-01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dirty="0"/>
                        <a:t>The system shall allow users to input drug molecules via SMILES string or by selecting from the KIBA dataset.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FR-02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The system shall allow users to input protein targets via amino acid sequence or by selecting from the dataset.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FR-03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The system shall predict binding affinity scores for a given drug–target pair using the trained ML model.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FR-04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The system shall validate user inputs (SMILES validity via RDKit, sequence format) and display appropriate error messages.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FR-05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The system shall perform batch screening across multiple drug × target combinations and return ranked results.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FR-06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The system shall provide SHAP-based explanations for each prediction, showing which molecular features contributed most.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FR-07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The system shall display drug information including MW, LogP, TPSA, HBD, HBA, and structural fingerprint details.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FR-08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The system shall allow users to compare multiple ML models (Ridge, RF, XGBoost, DeepDTA, GraphDTA) on evaluation metrics.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FR-09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The system shall display dataset exploration views including score distributions, drug/target counts, and statistics.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FR-10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The system shall expose a REST API (FastAPI) for programmatic access to prediction, screening, and explanation endpoints.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FR-11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t>The system shall provide a web-based dashboard for interactive prediction, screening, model comparison, and exploration.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t>FR-12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dirty="0"/>
                        <a:t>The system shall display appropriate disclaimers indicating predictions are computational and do not replace lab validation.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NON-FUNCTIONAL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Quality Attributes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769668"/>
              </p:ext>
            </p:extLst>
          </p:nvPr>
        </p:nvGraphicFramePr>
        <p:xfrm>
          <a:off x="640080" y="1463040"/>
          <a:ext cx="109728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4E4A44"/>
                          </a:solidFill>
                          <a:latin typeface="Calibri"/>
                        </a:defRPr>
                      </a:pPr>
                      <a:r>
                        <a:rPr sz="1000" dirty="0"/>
                        <a:t>ID</a:t>
                      </a:r>
                    </a:p>
                  </a:txBody>
                  <a:tcPr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4E4A44"/>
                          </a:solidFill>
                          <a:latin typeface="Calibri"/>
                        </a:defRPr>
                      </a:pPr>
                      <a:r>
                        <a:rPr sz="1000"/>
                        <a:t>Requirement</a:t>
                      </a:r>
                    </a:p>
                  </a:txBody>
                  <a:tcPr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 dirty="0"/>
                        <a:t>NFR-01 — Performance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/>
                        <a:t>Single predictions shall be returned within 100ms; batch screening of 200 pairs within 5 seconds.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NFR-02 — Availability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 dirty="0"/>
                        <a:t>The system should remain available and functional during normal operating hours with minimal downtime.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NFR-03 — Usability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/>
                        <a:t>The web interface should be simple, intuitive, and responsive, allowing users to submit predictions with minimal steps.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NFR-04 — Security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/>
                        <a:t>API endpoints shall be protected with appropriate input sanitization and rate limiting to prevent misuse.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NFR-05 — Accuracy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/>
                        <a:t>Predictions shall originate from models trained on the validated KIBA benchmark dataset with documented metrics.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NFR-06 — Reliability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/>
                        <a:t>The system should handle invalid SMILES, malformed sequences, and errors without crashing.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NFR-07 — Reproducibility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/>
                        <a:t>All experiments shall use fixed random seeds (42) and persisted splits to ensure reproducible results.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NFR-08 — Scalability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/>
                        <a:t>The architecture should support increase in drug records, targets, and API requests without major redesign.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NFR-09 — Modularity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/>
                        <a:t>The software shall use a modular architecture so preprocessing, features, models, evaluation can be independently maintained.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NFR-10 — Compatibility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/>
                        <a:t>The web application should work correctly on commonly used modern browsers (Chrome, Firefox, Edge).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NFR-11 — Responsiveness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 dirty="0"/>
                        <a:t>The UI should adapt appropriately to desktop and tablet screen sizes.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NFR-12 — Interpretability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/>
                        <a:t>Every prediction shall be accompanied by a SHAP-based explanation so users understand the reasoning.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NFR-13 — Extensibility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/>
                        <a:t>The system should allow future integration of additional datasets, models, or drug databases via modular pipeline.</a:t>
                      </a:r>
                    </a:p>
                  </a:txBody>
                  <a:tcPr anchor="ctr"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BE5D8"/>
                          </a:solidFill>
                          <a:latin typeface="Calibri"/>
                        </a:defRPr>
                      </a:pPr>
                      <a:r>
                        <a:rPr sz="1000"/>
                        <a:t>NFR-14 — Data Integrity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B5AE9F"/>
                          </a:solidFill>
                          <a:latin typeface="Calibri"/>
                        </a:defRPr>
                      </a:pPr>
                      <a:r>
                        <a:rPr sz="1000" dirty="0"/>
                        <a:t>Model artifacts and dataset files should not be accidentally modified; checksums and version tracking maintained.</a:t>
                      </a:r>
                    </a:p>
                  </a:txBody>
                  <a:tcPr anchor="ctr"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System Architecture — Component Diagram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AED958B3-2D08-DEAD-5236-8FAE374D3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19" y="1729139"/>
            <a:ext cx="5858693" cy="4305901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497C161-8947-EF33-A418-0816453B4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903" y="1839621"/>
            <a:ext cx="5284478" cy="39806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ML Process Flow — Activity Diagram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2DEAADD8-430F-D1DD-6215-B5FE65208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275" y="2013564"/>
            <a:ext cx="5038698" cy="372538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4A8F7049-4C8C-E5D3-9052-B73450024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91" y="2255191"/>
            <a:ext cx="6470198" cy="317895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Dataset &amp; Feature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74548"/>
            <a:ext cx="2468880" cy="109728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811707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ADE80"/>
                </a:solidFill>
                <a:latin typeface="Consolas"/>
              </a:defRPr>
            </a:pPr>
            <a:r>
              <a:t>118,254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1462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t>INTERACTIONS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674548"/>
            <a:ext cx="2468880" cy="109728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83280" y="1811707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B942"/>
                </a:solidFill>
                <a:latin typeface="Consolas"/>
              </a:defRPr>
            </a:pPr>
            <a:r>
              <a:t>2,111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1462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t>DRUGS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74548"/>
            <a:ext cx="2468880" cy="109728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811707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F6F5C"/>
                </a:solidFill>
                <a:latin typeface="Consolas"/>
              </a:defRPr>
            </a:pPr>
            <a:r>
              <a:t>229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31462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t>TARGETS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1674548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0" y="1811707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BE5D8"/>
                </a:solidFill>
                <a:latin typeface="Consolas"/>
              </a:defRPr>
            </a:pPr>
            <a:r>
              <a:t>0 – 17.2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31462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t>SCORE RANGE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37588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22902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BE5D8"/>
                </a:solidFill>
                <a:latin typeface="Calibri"/>
              </a:defRPr>
            </a:pPr>
            <a:r>
              <a:t>💊 Drug Representation → 1,034D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4050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5AE9F"/>
                </a:solidFill>
                <a:latin typeface="Calibri"/>
              </a:defRPr>
            </a:pPr>
            <a:r>
              <a:t>• 10 molecular descriptors: MW, LogP, TPSA, HBD, HBA, rotatable bonds, aromatic rings, Csp3, heavy atoms, ring count</a:t>
            </a:r>
            <a:br/>
            <a:br/>
            <a:r>
              <a:t>• 1,024-bit Morgan fingerprint: circular substructure encoding (ECFP4, radius=2)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37588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322902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BE5D8"/>
                </a:solidFill>
                <a:latin typeface="Calibri"/>
              </a:defRPr>
            </a:pPr>
            <a:r>
              <a:t>🧬 Protein Representation → 420D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4050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5AE9F"/>
                </a:solidFill>
                <a:latin typeface="Calibri"/>
              </a:defRPr>
            </a:pPr>
            <a:r>
              <a:t>• AAC (20D): frequency of each standard amino acid</a:t>
            </a:r>
            <a:br/>
            <a:br/>
            <a:r>
              <a:t>• DPC (400D): frequency of each consecutive amino acid pair (20 × 20)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807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5AE9F"/>
                </a:solidFill>
                <a:latin typeface="Calibri"/>
              </a:defRPr>
            </a:pPr>
            <a:r>
              <a:t>Per pair: concat(drug₁₀₃₄, protein₄₂₀) = 1,454-dimensional input vector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Model Comparison — RMSE (lower is better)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50876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4ADE80"/>
                </a:solidFill>
                <a:latin typeface="Calibri"/>
              </a:defRPr>
            </a:pPr>
            <a:r>
              <a:t>★ XGBoost Tuned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08760"/>
            <a:ext cx="7772400" cy="347472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103120" y="1508760"/>
            <a:ext cx="3890820" cy="347472"/>
          </a:xfrm>
          <a:prstGeom prst="roundRect">
            <a:avLst>
              <a:gd name="adj" fmla="val 15000"/>
            </a:avLst>
          </a:prstGeom>
          <a:solidFill>
            <a:srgbClr val="14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03120" y="1508760"/>
            <a:ext cx="38908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0.421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9842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5AE9F"/>
                </a:solidFill>
                <a:latin typeface="Calibri"/>
              </a:defRPr>
            </a:pPr>
            <a:r>
              <a:t>DeepDTA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1984248"/>
            <a:ext cx="7772400" cy="347472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03120" y="1984248"/>
            <a:ext cx="3927788" cy="347472"/>
          </a:xfrm>
          <a:prstGeom prst="roundRect">
            <a:avLst>
              <a:gd name="adj" fmla="val 15000"/>
            </a:avLst>
          </a:prstGeom>
          <a:solidFill>
            <a:srgbClr val="352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03120" y="1984248"/>
            <a:ext cx="39277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5B942"/>
                </a:solidFill>
                <a:latin typeface="Consolas"/>
              </a:defRPr>
            </a:pPr>
            <a:r>
              <a:t>0.425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45973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5AE9F"/>
                </a:solidFill>
                <a:latin typeface="Calibri"/>
              </a:defRPr>
            </a:pPr>
            <a:r>
              <a:t>GraphDTA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03120" y="2459736"/>
            <a:ext cx="7772400" cy="347472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103120" y="2459736"/>
            <a:ext cx="3973997" cy="347472"/>
          </a:xfrm>
          <a:prstGeom prst="roundRect">
            <a:avLst>
              <a:gd name="adj" fmla="val 15000"/>
            </a:avLst>
          </a:prstGeom>
          <a:solidFill>
            <a:srgbClr val="352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03120" y="2459736"/>
            <a:ext cx="397399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5B942"/>
                </a:solidFill>
                <a:latin typeface="Consolas"/>
              </a:defRPr>
            </a:pPr>
            <a:r>
              <a:t>0.43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9352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5AE9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2935224"/>
            <a:ext cx="7772400" cy="347472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103120" y="2935224"/>
            <a:ext cx="4020206" cy="347472"/>
          </a:xfrm>
          <a:prstGeom prst="roundRect">
            <a:avLst>
              <a:gd name="adj" fmla="val 15000"/>
            </a:avLst>
          </a:prstGeom>
          <a:solidFill>
            <a:srgbClr val="14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03120" y="2935224"/>
            <a:ext cx="402020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0.435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341071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5AE9F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3410712"/>
            <a:ext cx="7772400" cy="347472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103120" y="3410712"/>
            <a:ext cx="4500783" cy="347472"/>
          </a:xfrm>
          <a:prstGeom prst="roundRect">
            <a:avLst>
              <a:gd name="adj" fmla="val 1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03120" y="3410712"/>
            <a:ext cx="450078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A7568"/>
                </a:solidFill>
                <a:latin typeface="Consolas"/>
              </a:defRPr>
            </a:pPr>
            <a:r>
              <a:t>0.487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88620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5AE9F"/>
                </a:solidFill>
                <a:latin typeface="Calibri"/>
              </a:defRPr>
            </a:pPr>
            <a:r>
              <a:t>Ridge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3120" y="3886200"/>
            <a:ext cx="7772400" cy="347472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103120" y="3886200"/>
            <a:ext cx="6053414" cy="347472"/>
          </a:xfrm>
          <a:prstGeom prst="roundRect">
            <a:avLst>
              <a:gd name="adj" fmla="val 15000"/>
            </a:avLst>
          </a:prstGeom>
          <a:solidFill>
            <a:srgbClr val="351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103120" y="3886200"/>
            <a:ext cx="605341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6F5C"/>
                </a:solidFill>
                <a:latin typeface="Consolas"/>
              </a:defRPr>
            </a:pPr>
            <a:r>
              <a:t>0.655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436168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5AE9F"/>
                </a:solidFill>
                <a:latin typeface="Calibri"/>
              </a:defRPr>
            </a:pPr>
            <a:r>
              <a:t>Mean Predictor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03120" y="4361688"/>
            <a:ext cx="7772400" cy="347472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103120" y="4361688"/>
            <a:ext cx="7772400" cy="347472"/>
          </a:xfrm>
          <a:prstGeom prst="roundRect">
            <a:avLst>
              <a:gd name="adj" fmla="val 1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03120" y="436168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E4A44"/>
                </a:solidFill>
                <a:latin typeface="Consolas"/>
              </a:defRPr>
            </a:pPr>
            <a:r>
              <a:t>0.841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120640"/>
            <a:ext cx="2560320" cy="1005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257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ADE80"/>
                </a:solidFill>
                <a:latin typeface="Consolas"/>
              </a:defRPr>
            </a:pPr>
            <a:r>
              <a:t>0.867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6692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t>BEST PEARSON 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74720" y="5120640"/>
            <a:ext cx="2560320" cy="1005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74720" y="5257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B942"/>
                </a:solidFill>
                <a:latin typeface="Consolas"/>
              </a:defRPr>
            </a:pPr>
            <a:r>
              <a:t>0.750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56692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t>BEST R²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5120640"/>
            <a:ext cx="2560320" cy="1005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09360" y="5257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BE5D8"/>
                </a:solidFill>
                <a:latin typeface="Consolas"/>
              </a:defRPr>
            </a:pPr>
            <a:r>
              <a:t>5.4 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6692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t>BEST TRAIN TIME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5120640"/>
            <a:ext cx="2377440" cy="1005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0" y="52578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F6F5C"/>
                </a:solidFill>
                <a:latin typeface="Consolas"/>
              </a:defRPr>
            </a:pPr>
            <a:r>
              <a:t>100×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6692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4A44"/>
                </a:solidFill>
                <a:latin typeface="Consolas"/>
              </a:defRPr>
            </a:pPr>
            <a:r>
              <a:t>FASTER THAN DL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Tuning &amp; Cold-Start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486400" cy="475488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BE5D8"/>
                </a:solidFill>
                <a:latin typeface="Calibri"/>
              </a:defRPr>
            </a:pPr>
            <a:r>
              <a:t>⚙️ Optuna Tuning — 50 Trials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7568"/>
                </a:solidFill>
                <a:latin typeface="Consolas"/>
              </a:defRPr>
            </a:pPr>
            <a:r>
              <a:t>RMSE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3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4E4A44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377439"/>
            <a:ext cx="4389120" cy="27432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463040" y="2377439"/>
            <a:ext cx="1789938" cy="274320"/>
          </a:xfrm>
          <a:prstGeom prst="roundRect">
            <a:avLst>
              <a:gd name="adj" fmla="val 15000"/>
            </a:avLst>
          </a:prstGeom>
          <a:solidFill>
            <a:srgbClr val="351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2377439"/>
            <a:ext cx="178993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6F5C"/>
                </a:solidFill>
                <a:latin typeface="Consolas"/>
              </a:defRPr>
            </a:pPr>
            <a:r>
              <a:t>0.435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4ADE8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697479"/>
            <a:ext cx="4389120" cy="27432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63040" y="2697479"/>
            <a:ext cx="1732330" cy="274320"/>
          </a:xfrm>
          <a:prstGeom prst="roundRect">
            <a:avLst>
              <a:gd name="adj" fmla="val 15000"/>
            </a:avLst>
          </a:prstGeom>
          <a:solidFill>
            <a:srgbClr val="14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63040" y="2697479"/>
            <a:ext cx="173233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0.421 ↓3.2%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747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7568"/>
                </a:solidFill>
                <a:latin typeface="Consolas"/>
              </a:defRPr>
            </a:pPr>
            <a:r>
              <a:t>Pearson r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4903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4E4A44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3749039"/>
            <a:ext cx="4389120" cy="27432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463040" y="3749039"/>
            <a:ext cx="3526383" cy="274320"/>
          </a:xfrm>
          <a:prstGeom prst="roundRect">
            <a:avLst>
              <a:gd name="adj" fmla="val 15000"/>
            </a:avLst>
          </a:prstGeom>
          <a:solidFill>
            <a:srgbClr val="352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63040" y="3749039"/>
            <a:ext cx="35263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5B942"/>
                </a:solidFill>
                <a:latin typeface="Consolas"/>
              </a:defRPr>
            </a:pPr>
            <a:r>
              <a:t>0.857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69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4ADE8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63040" y="4069080"/>
            <a:ext cx="4389120" cy="27432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463040" y="4069080"/>
            <a:ext cx="3567531" cy="274320"/>
          </a:xfrm>
          <a:prstGeom prst="roundRect">
            <a:avLst>
              <a:gd name="adj" fmla="val 15000"/>
            </a:avLst>
          </a:prstGeom>
          <a:solidFill>
            <a:srgbClr val="14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63040" y="4069080"/>
            <a:ext cx="35675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0.867 ↑+0.01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846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7568"/>
                </a:solidFill>
                <a:latin typeface="Consolas"/>
              </a:defRPr>
            </a:pPr>
            <a:r>
              <a:t>R² 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206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4E4A44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63040" y="5120640"/>
            <a:ext cx="4389120" cy="27432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463040" y="5120640"/>
            <a:ext cx="3016148" cy="274320"/>
          </a:xfrm>
          <a:prstGeom prst="roundRect">
            <a:avLst>
              <a:gd name="adj" fmla="val 15000"/>
            </a:avLst>
          </a:prstGeom>
          <a:solidFill>
            <a:srgbClr val="352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463040" y="5120640"/>
            <a:ext cx="30161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5B942"/>
                </a:solidFill>
                <a:latin typeface="Consolas"/>
              </a:defRPr>
            </a:pPr>
            <a:r>
              <a:t>0.733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440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4ADE8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63040" y="5440680"/>
            <a:ext cx="4389120" cy="27432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463040" y="5440680"/>
            <a:ext cx="3086100" cy="274320"/>
          </a:xfrm>
          <a:prstGeom prst="roundRect">
            <a:avLst>
              <a:gd name="adj" fmla="val 15000"/>
            </a:avLst>
          </a:prstGeom>
          <a:solidFill>
            <a:srgbClr val="14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63040" y="5440680"/>
            <a:ext cx="30861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0.75 ↑+0.017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1463040"/>
            <a:ext cx="5212080" cy="475488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0" y="15544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BE5D8"/>
                </a:solidFill>
                <a:latin typeface="Calibri"/>
              </a:defRPr>
            </a:pPr>
            <a:r>
              <a:t>❄️ Cold-Start RMSE — 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3171825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ADE80"/>
                </a:solidFill>
                <a:latin typeface="Consolas"/>
              </a:defRPr>
            </a:pPr>
            <a:r>
              <a:t>0.435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0" y="3446145"/>
            <a:ext cx="914400" cy="1491614"/>
          </a:xfrm>
          <a:prstGeom prst="roundRect">
            <a:avLst>
              <a:gd name="adj" fmla="val 5000"/>
            </a:avLst>
          </a:prstGeom>
          <a:solidFill>
            <a:srgbClr val="0B411F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15200" y="49834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5AE9F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269519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B942"/>
                </a:solidFill>
                <a:latin typeface="Consolas"/>
              </a:defRPr>
            </a:pPr>
            <a:r>
              <a:t>0.574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78240" y="2969514"/>
            <a:ext cx="914400" cy="1968245"/>
          </a:xfrm>
          <a:prstGeom prst="roundRect">
            <a:avLst>
              <a:gd name="adj" fmla="val 5000"/>
            </a:avLst>
          </a:prstGeom>
          <a:solidFill>
            <a:srgbClr val="513D16"/>
          </a:solidFill>
          <a:ln w="12700">
            <a:solidFill>
              <a:srgbClr val="F5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778240" y="49834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5AE9F"/>
                </a:solidFill>
                <a:latin typeface="Calibri"/>
              </a:defRPr>
            </a:pPr>
            <a:r>
              <a:t>Cold-Drug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2630043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6F5C"/>
                </a:solidFill>
                <a:latin typeface="Consolas"/>
              </a:defRPr>
            </a:pPr>
            <a:r>
              <a:t>0.593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2904363"/>
            <a:ext cx="914400" cy="2033397"/>
          </a:xfrm>
          <a:prstGeom prst="roundRect">
            <a:avLst>
              <a:gd name="adj" fmla="val 5000"/>
            </a:avLst>
          </a:prstGeom>
          <a:solidFill>
            <a:srgbClr val="4F251E"/>
          </a:solidFill>
          <a:ln w="12700">
            <a:solidFill>
              <a:srgbClr val="EF6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241280" y="49834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5AE9F"/>
                </a:solidFill>
                <a:latin typeface="Calibri"/>
              </a:defRPr>
            </a:pPr>
            <a:r>
              <a:t>Cold-Target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5394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F6F5C"/>
                </a:solidFill>
                <a:latin typeface="Calibri"/>
              </a:defRPr>
            </a:pPr>
            <a:r>
              <a:t>▲ +32% drop          ▲ +36% drop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57150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E4A44"/>
                </a:solidFill>
                <a:latin typeface="Calibri"/>
              </a:defRPr>
            </a:pPr>
            <a:r>
              <a:t>Unseen proteins harder than unseen drugs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rPr dirty="0"/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t>SHAP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BE5D8"/>
                </a:solidFill>
                <a:latin typeface="Calibri"/>
              </a:defRPr>
            </a:pPr>
            <a:r>
              <a:rPr sz="1600" dirty="0"/>
              <a:t>Feature Category Importance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3757" y="2438663"/>
            <a:ext cx="1371600" cy="47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B5AE9F"/>
                </a:solidFill>
                <a:latin typeface="Calibri"/>
              </a:defRPr>
            </a:pPr>
            <a:r>
              <a:rPr dirty="0"/>
              <a:t>💊 Drug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6797" y="2438663"/>
            <a:ext cx="4114800" cy="545737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816797" y="2438663"/>
            <a:ext cx="2756916" cy="545737"/>
          </a:xfrm>
          <a:prstGeom prst="roundRect">
            <a:avLst>
              <a:gd name="adj" fmla="val 15000"/>
            </a:avLst>
          </a:prstGeom>
          <a:solidFill>
            <a:srgbClr val="14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16797" y="2438663"/>
            <a:ext cx="2756916" cy="5457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~67%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757" y="3189051"/>
            <a:ext cx="1371600" cy="47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B5AE9F"/>
                </a:solidFill>
                <a:latin typeface="Calibri"/>
              </a:defRPr>
            </a:pPr>
            <a:r>
              <a:t>🧬 Protein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16797" y="3189051"/>
            <a:ext cx="4114800" cy="545737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816797" y="3189051"/>
            <a:ext cx="1357884" cy="545737"/>
          </a:xfrm>
          <a:prstGeom prst="roundRect">
            <a:avLst>
              <a:gd name="adj" fmla="val 15000"/>
            </a:avLst>
          </a:prstGeom>
          <a:solidFill>
            <a:srgbClr val="352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16797" y="3189051"/>
            <a:ext cx="1357884" cy="5457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5B942"/>
                </a:solidFill>
                <a:latin typeface="Consolas"/>
              </a:defRPr>
            </a:pPr>
            <a:r>
              <a:t>~33%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6092"/>
            <a:ext cx="5577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200" b="0">
                <a:solidFill>
                  <a:srgbClr val="7A7568"/>
                </a:solidFill>
                <a:latin typeface="Calibri"/>
              </a:defRPr>
            </a:pPr>
            <a:r>
              <a:rPr sz="1600" dirty="0"/>
              <a:t>Drug structural features dominate predictions —</a:t>
            </a:r>
            <a:br>
              <a:rPr sz="1600" dirty="0"/>
            </a:br>
            <a:r>
              <a:rPr sz="1600" dirty="0"/>
              <a:t>molecular substructures determine binding pocket fit.</a:t>
            </a:r>
            <a:br>
              <a:rPr sz="1600" dirty="0"/>
            </a:br>
            <a:r>
              <a:rPr sz="1600" dirty="0"/>
              <a:t>Consistent with biochemical expectation.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463040"/>
            <a:ext cx="5212080" cy="411480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 w="1270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15544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BE5D8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0003" y="2362662"/>
            <a:ext cx="430968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5AE9F"/>
                </a:solidFill>
                <a:latin typeface="Calibri"/>
              </a:defRPr>
            </a:pPr>
            <a:r>
              <a:rPr sz="1400" dirty="0"/>
              <a:t>• Morgan FP bits — strongest predictors;</a:t>
            </a:r>
            <a:br>
              <a:rPr sz="1400" dirty="0"/>
            </a:br>
            <a:r>
              <a:rPr sz="1400" dirty="0"/>
              <a:t>  specific substructures drive binding</a:t>
            </a:r>
            <a:br>
              <a:rPr sz="1400" dirty="0"/>
            </a:br>
            <a:br>
              <a:rPr sz="1400" dirty="0"/>
            </a:br>
            <a:r>
              <a:rPr sz="1400" dirty="0"/>
              <a:t>• </a:t>
            </a:r>
            <a:r>
              <a:rPr sz="1400" dirty="0" err="1"/>
              <a:t>LogP</a:t>
            </a:r>
            <a:r>
              <a:rPr sz="1400" dirty="0"/>
              <a:t>, MW, TPSA — top molecular descriptors;</a:t>
            </a:r>
            <a:br>
              <a:rPr sz="1400" dirty="0"/>
            </a:br>
            <a:r>
              <a:rPr sz="1400" dirty="0"/>
              <a:t>  lipophilicity and size matter</a:t>
            </a:r>
            <a:br>
              <a:rPr sz="1400" dirty="0"/>
            </a:br>
            <a:br>
              <a:rPr sz="1400" dirty="0"/>
            </a:br>
            <a:r>
              <a:rPr sz="1400" dirty="0"/>
              <a:t>• Dipeptide composition — main protein-side signal</a:t>
            </a:r>
            <a:br>
              <a:rPr sz="1400" dirty="0"/>
            </a:br>
            <a:br>
              <a:rPr sz="1400" dirty="0"/>
            </a:br>
            <a:r>
              <a:rPr sz="1400" dirty="0"/>
              <a:t>• Every prediction decomposable via waterfall plots</a:t>
            </a:r>
            <a:br>
              <a:rPr sz="1400" dirty="0"/>
            </a:br>
            <a:br>
              <a:rPr sz="1400" dirty="0"/>
            </a:br>
            <a:r>
              <a:rPr sz="1400" dirty="0"/>
              <a:t>• 37 publication-ready figures generated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onsolas"/>
              </a:defRPr>
            </a:pPr>
            <a:r>
              <a:rPr dirty="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E5D8"/>
                </a:solidFill>
                <a:latin typeface="Calibri"/>
              </a:defRPr>
            </a:pPr>
            <a:r>
              <a:rPr dirty="0"/>
              <a:t>IEEE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8876" y="2073563"/>
            <a:ext cx="1031424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5AE9F"/>
                </a:solidFill>
                <a:latin typeface="Calibri"/>
              </a:defRPr>
            </a:pPr>
            <a:r>
              <a:rPr sz="1600" dirty="0"/>
              <a:t>[1] H. Öztürk et al., "</a:t>
            </a:r>
            <a:r>
              <a:rPr sz="1600" dirty="0" err="1"/>
              <a:t>DeepDTA</a:t>
            </a:r>
            <a:r>
              <a:rPr sz="1600" dirty="0"/>
              <a:t>: deep drug–target binding affinity prediction," Bioinformatics, vol. 34, pp. i821–i829, 2018.</a:t>
            </a:r>
            <a:br>
              <a:rPr sz="1600" dirty="0"/>
            </a:br>
            <a:r>
              <a:rPr sz="1600" dirty="0"/>
              <a:t>[2] T. Nguyen et al., "</a:t>
            </a:r>
            <a:r>
              <a:rPr sz="1600" dirty="0" err="1"/>
              <a:t>GraphDTA</a:t>
            </a:r>
            <a:r>
              <a:rPr sz="1600" dirty="0"/>
              <a:t>: predicting DTI with graph neural networks," Bioinformatics, vol. 37, pp. 1140–1147, 2021.</a:t>
            </a:r>
            <a:br>
              <a:rPr sz="1600" dirty="0"/>
            </a:br>
            <a:r>
              <a:rPr sz="1600" dirty="0"/>
              <a:t>[3] J. Tang et al., "Making sense of large-scale kinase inhibitor bioactivity," J. Chem. Inf. Model., vol. 54, pp. 735–743, 2014.</a:t>
            </a:r>
            <a:br>
              <a:rPr sz="1600" dirty="0"/>
            </a:br>
            <a:r>
              <a:rPr sz="1600" dirty="0"/>
              <a:t>[4] T. </a:t>
            </a:r>
            <a:r>
              <a:rPr sz="1600" dirty="0" err="1"/>
              <a:t>Pahikkala</a:t>
            </a:r>
            <a:r>
              <a:rPr sz="1600" dirty="0"/>
              <a:t> et al., "Toward more realistic DTI predictions," Brief. </a:t>
            </a:r>
            <a:r>
              <a:rPr sz="1600" dirty="0" err="1"/>
              <a:t>Bioinform</a:t>
            </a:r>
            <a:r>
              <a:rPr sz="1600" dirty="0"/>
              <a:t>., vol. 16, pp. 325–337, 2015.</a:t>
            </a:r>
            <a:br>
              <a:rPr sz="1600" dirty="0"/>
            </a:br>
            <a:r>
              <a:rPr sz="1600" dirty="0"/>
              <a:t>[5] T. He et al., "</a:t>
            </a:r>
            <a:r>
              <a:rPr sz="1600" dirty="0" err="1"/>
              <a:t>SimBoost</a:t>
            </a:r>
            <a:r>
              <a:rPr sz="1600" dirty="0"/>
              <a:t>: predicting drug–target binding affinities," J. </a:t>
            </a:r>
            <a:r>
              <a:rPr sz="1600" dirty="0" err="1"/>
              <a:t>Cheminform</a:t>
            </a:r>
            <a:r>
              <a:rPr sz="1600" dirty="0"/>
              <a:t>., vol. 9, p. 24, 2017.</a:t>
            </a:r>
            <a:br>
              <a:rPr sz="1600" dirty="0"/>
            </a:br>
            <a:r>
              <a:rPr sz="1600" dirty="0"/>
              <a:t>[6] L. Chen et al., "</a:t>
            </a:r>
            <a:r>
              <a:rPr sz="1600" dirty="0" err="1"/>
              <a:t>TransformerCPI</a:t>
            </a:r>
            <a:r>
              <a:rPr sz="1600" dirty="0"/>
              <a:t>," Bioinformatics, vol. 36, pp. 4406–4414, 2020.</a:t>
            </a:r>
            <a:br>
              <a:rPr sz="1600" dirty="0"/>
            </a:br>
            <a:r>
              <a:rPr sz="1600" dirty="0"/>
              <a:t>[7] I. Lee et al., "</a:t>
            </a:r>
            <a:r>
              <a:rPr sz="1600" dirty="0" err="1"/>
              <a:t>DeepConv</a:t>
            </a:r>
            <a:r>
              <a:rPr sz="1600" dirty="0"/>
              <a:t>-DTI," PLOS </a:t>
            </a:r>
            <a:r>
              <a:rPr sz="1600" dirty="0" err="1"/>
              <a:t>Comput</a:t>
            </a:r>
            <a:r>
              <a:rPr sz="1600" dirty="0"/>
              <a:t>. Biol., vol. 15, e1007129, 2019.</a:t>
            </a:r>
            <a:br>
              <a:rPr sz="1600" dirty="0"/>
            </a:br>
            <a:r>
              <a:rPr sz="1600" dirty="0"/>
              <a:t>[8] Z. Yang et al., "</a:t>
            </a:r>
            <a:r>
              <a:rPr sz="1600" dirty="0" err="1"/>
              <a:t>MGraphDTA</a:t>
            </a:r>
            <a:r>
              <a:rPr sz="1600" dirty="0"/>
              <a:t>," Chem. Sci., vol. 13, pp. 816–833, 2022.</a:t>
            </a:r>
            <a:br>
              <a:rPr sz="1600" dirty="0"/>
            </a:br>
            <a:r>
              <a:rPr sz="1600" dirty="0"/>
              <a:t>[9] Q. Zhao et al., "</a:t>
            </a:r>
            <a:r>
              <a:rPr sz="1600" dirty="0" err="1"/>
              <a:t>AttentionDTA</a:t>
            </a:r>
            <a:r>
              <a:rPr sz="1600" dirty="0"/>
              <a:t>," IEEE/ACM Trans. CBB, vol. 20, pp. 228–237, 2022.</a:t>
            </a:r>
            <a:br>
              <a:rPr sz="1600" dirty="0"/>
            </a:br>
            <a:r>
              <a:rPr sz="1600" dirty="0"/>
              <a:t>[10] S. Lundberg, S. Lee, "A unified approach to interpreting model predictions," </a:t>
            </a:r>
            <a:r>
              <a:rPr sz="1600" dirty="0" err="1"/>
              <a:t>NeurIPS</a:t>
            </a:r>
            <a:r>
              <a:rPr sz="1600" dirty="0"/>
              <a:t>, pp. 4765–4774, 2017.</a:t>
            </a:r>
            <a:br>
              <a:rPr sz="1600" dirty="0"/>
            </a:br>
            <a:br>
              <a:rPr sz="1600" dirty="0"/>
            </a:br>
            <a:r>
              <a:rPr sz="1600" dirty="0"/>
              <a:t>Software: [11] </a:t>
            </a:r>
            <a:r>
              <a:rPr sz="1600" dirty="0" err="1"/>
              <a:t>RDKit</a:t>
            </a:r>
            <a:r>
              <a:rPr sz="1600" dirty="0"/>
              <a:t> — rdkit.org   [12] </a:t>
            </a:r>
            <a:r>
              <a:rPr sz="1600" dirty="0" err="1"/>
              <a:t>PyG</a:t>
            </a:r>
            <a:r>
              <a:rPr sz="1600" dirty="0"/>
              <a:t> — pyg.org   [13] SHAP — shap.readthedocs.io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828800"/>
            <a:ext cx="121916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ADE80"/>
                </a:solidFill>
                <a:latin typeface="Consolas"/>
              </a:defRPr>
            </a:pPr>
            <a:r>
              <a:t>PHASE </a:t>
            </a:r>
            <a:r>
              <a:rPr lang="en-US" dirty="0"/>
              <a:t>1</a:t>
            </a:r>
            <a:r>
              <a:t> </a:t>
            </a:r>
            <a:r>
              <a:rPr dirty="0"/>
              <a:t>· </a:t>
            </a:r>
            <a:r>
              <a:rPr lang="en-US" dirty="0"/>
              <a:t>8</a:t>
            </a:r>
            <a:r>
              <a:rPr dirty="0"/>
              <a:t>0%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468880"/>
            <a:ext cx="1219169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BE5D8"/>
                </a:solidFill>
                <a:latin typeface="Calibri"/>
              </a:defRPr>
            </a:pPr>
            <a:r>
              <a:rPr sz="10000" dirty="0"/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624941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7A7568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630781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E4A44"/>
                </a:solidFill>
                <a:latin typeface="Calibri"/>
              </a:defRPr>
            </a:pPr>
            <a:r>
              <a:t>💊 PharmaLens — Explainable AI for Drug–Target Interaction 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2124</Words>
  <Application>Microsoft Office PowerPoint</Application>
  <PresentationFormat>Widescreen</PresentationFormat>
  <Paragraphs>316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useless bruh</cp:lastModifiedBy>
  <cp:revision>6</cp:revision>
  <dcterms:created xsi:type="dcterms:W3CDTF">2013-01-27T09:14:16Z</dcterms:created>
  <dcterms:modified xsi:type="dcterms:W3CDTF">2026-10-06T07:05:47Z</dcterms:modified>
  <cp:category/>
</cp:coreProperties>
</file>