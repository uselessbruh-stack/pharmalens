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26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MCA CAPSTONE PROJECT ·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BE5D8"/>
                </a:solidFill>
                <a:latin typeface="Calibri"/>
              </a:defRPr>
            </a:pPr>
            <a:r>
              <a:t>PharmaLens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5AE9F"/>
                </a:solidFill>
                <a:latin typeface="Calibri"/>
              </a:defRPr>
            </a:pPr>
            <a:r>
              <a:t>An Explainable AI Framework for Drug–Target Interaction</a:t>
            </a:r>
            <a:br/>
            <a:r>
              <a:t>Prediction and Candidate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5340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568"/>
                </a:solidFill>
                <a:latin typeface="Calibri"/>
              </a:defRPr>
            </a:pPr>
            <a:r>
              <a:rPr lang="en-US" dirty="0"/>
              <a:t>Name: Abhijith Krishna G </a:t>
            </a:r>
            <a:r>
              <a:rPr dirty="0"/>
              <a:t>·  Roll: </a:t>
            </a:r>
            <a:r>
              <a:rPr lang="en-US" dirty="0"/>
              <a:t>PES1PG25CA005</a:t>
            </a:r>
          </a:p>
          <a:p>
            <a:pPr algn="ctr">
              <a:defRPr sz="1400" b="0">
                <a:solidFill>
                  <a:srgbClr val="7A7568"/>
                </a:solidFill>
                <a:latin typeface="Calibri"/>
              </a:defRPr>
            </a:pPr>
            <a:r>
              <a:rPr dirty="0"/>
              <a:t>Guide</a:t>
            </a:r>
            <a:r>
              <a:rPr lang="en-US" dirty="0"/>
              <a:t>: Dr. Gayathri L</a:t>
            </a:r>
          </a:p>
          <a:p>
            <a:pPr algn="ctr">
              <a:defRPr sz="1400" b="0">
                <a:solidFill>
                  <a:srgbClr val="7A7568"/>
                </a:solidFill>
                <a:latin typeface="Calibri"/>
              </a:defRPr>
            </a:pPr>
            <a:r>
              <a:rPr dirty="0"/>
              <a:t>Department of Computer Applications, </a:t>
            </a:r>
            <a:r>
              <a:rPr lang="en-US" dirty="0"/>
              <a:t>PES University</a:t>
            </a:r>
          </a:p>
          <a:p>
            <a:pPr algn="ctr">
              <a:defRPr sz="1400" b="0">
                <a:solidFill>
                  <a:srgbClr val="7A7568"/>
                </a:solidFill>
                <a:latin typeface="Calibri"/>
              </a:defRPr>
            </a:pPr>
            <a:r>
              <a:rPr dirty="0"/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3331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1580"/>
            <a:ext cx="432908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000" b="0" dirty="0">
                <a:solidFill>
                  <a:srgbClr val="B5AE9F"/>
                </a:solidFill>
                <a:latin typeface="Calibri"/>
              </a:rPr>
              <a:t>Drug discovery costs </a:t>
            </a:r>
            <a:r>
              <a:rPr sz="2000" b="1" dirty="0">
                <a:solidFill>
                  <a:srgbClr val="EBE5D8"/>
                </a:solidFill>
                <a:latin typeface="Calibri"/>
              </a:rPr>
              <a:t>$1–2 billion</a:t>
            </a:r>
            <a:r>
              <a:rPr sz="2000" b="0" dirty="0">
                <a:solidFill>
                  <a:srgbClr val="B5AE9F"/>
                </a:solidFill>
                <a:latin typeface="Calibri"/>
              </a:rPr>
              <a:t> and takes </a:t>
            </a:r>
            <a:r>
              <a:rPr sz="2000" b="1" dirty="0">
                <a:solidFill>
                  <a:srgbClr val="EBE5D8"/>
                </a:solidFill>
                <a:latin typeface="Calibri"/>
              </a:rPr>
              <a:t>10–15 years</a:t>
            </a:r>
            <a:r>
              <a:rPr sz="2000" b="0" dirty="0">
                <a:solidFill>
                  <a:srgbClr val="B5AE9F"/>
                </a:solidFill>
                <a:latin typeface="Calibri"/>
              </a:rPr>
              <a:t> per drug. Testing every drug-protein combination experimentally is infeasible.</a:t>
            </a:r>
          </a:p>
          <a:p>
            <a:pPr algn="just">
              <a:spcBef>
                <a:spcPts val="1200"/>
              </a:spcBef>
            </a:pPr>
            <a:r>
              <a:rPr sz="2000" b="0" dirty="0" err="1">
                <a:solidFill>
                  <a:srgbClr val="B5AE9F"/>
                </a:solidFill>
                <a:latin typeface="Calibri"/>
              </a:rPr>
              <a:t>PharmaLens</a:t>
            </a:r>
            <a:r>
              <a:rPr sz="2000" b="0" dirty="0">
                <a:solidFill>
                  <a:srgbClr val="B5AE9F"/>
                </a:solidFill>
                <a:latin typeface="Calibri"/>
              </a:rPr>
              <a:t> uses machine learning to predict binding affinity from molecular structure and protein sequences. It compares </a:t>
            </a:r>
            <a:r>
              <a:rPr sz="2000" b="1" dirty="0">
                <a:solidFill>
                  <a:srgbClr val="EBE5D8"/>
                </a:solidFill>
                <a:latin typeface="Calibri"/>
              </a:rPr>
              <a:t>7 models</a:t>
            </a:r>
            <a:r>
              <a:rPr sz="2000" b="0" dirty="0">
                <a:solidFill>
                  <a:srgbClr val="B5AE9F"/>
                </a:solidFill>
                <a:latin typeface="Calibri"/>
              </a:rPr>
              <a:t> on the KIBA benchmark and provides </a:t>
            </a:r>
            <a:r>
              <a:rPr sz="2000" b="1" dirty="0">
                <a:solidFill>
                  <a:srgbClr val="EBE5D8"/>
                </a:solidFill>
                <a:latin typeface="Calibri"/>
              </a:rPr>
              <a:t>SHAP explainability</a:t>
            </a:r>
            <a:r>
              <a:rPr sz="2000" b="0" dirty="0">
                <a:solidFill>
                  <a:srgbClr val="B5AE9F"/>
                </a:solidFill>
                <a:latin typeface="Calibri"/>
              </a:rPr>
              <a:t> for interpretable predictions.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67F122-0186-C1BD-9ADF-3405E4B4C8DC}"/>
              </a:ext>
            </a:extLst>
          </p:cNvPr>
          <p:cNvGrpSpPr/>
          <p:nvPr/>
        </p:nvGrpSpPr>
        <p:grpSpPr>
          <a:xfrm>
            <a:off x="6096000" y="1597890"/>
            <a:ext cx="5467004" cy="3950835"/>
            <a:chOff x="7498079" y="1463040"/>
            <a:chExt cx="4480561" cy="2194560"/>
          </a:xfrm>
        </p:grpSpPr>
        <p:sp>
          <p:nvSpPr>
            <p:cNvPr id="5" name="Rounded Rectangle 4"/>
            <p:cNvSpPr/>
            <p:nvPr/>
          </p:nvSpPr>
          <p:spPr>
            <a:xfrm>
              <a:off x="7498079" y="1463040"/>
              <a:ext cx="2103120" cy="1005840"/>
            </a:xfrm>
            <a:prstGeom prst="roundRect">
              <a:avLst>
                <a:gd name="adj" fmla="val 5000"/>
              </a:avLst>
            </a:prstGeom>
            <a:solidFill>
              <a:srgbClr val="1B1B1B"/>
            </a:solidFill>
            <a:ln w="12700">
              <a:solidFill>
                <a:srgbClr val="2D2D2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498079" y="1600200"/>
              <a:ext cx="21031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4ADE80"/>
                  </a:solidFill>
                  <a:latin typeface="Consolas"/>
                </a:defRPr>
              </a:pPr>
              <a:r>
                <a:t>118K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98079" y="2011680"/>
              <a:ext cx="21031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4E4A44"/>
                  </a:solidFill>
                  <a:latin typeface="Consolas"/>
                </a:defRPr>
              </a:pPr>
              <a:r>
                <a:t>INTERACTIONS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875520" y="1463040"/>
              <a:ext cx="2103120" cy="1005840"/>
            </a:xfrm>
            <a:prstGeom prst="roundRect">
              <a:avLst>
                <a:gd name="adj" fmla="val 5000"/>
              </a:avLst>
            </a:prstGeom>
            <a:solidFill>
              <a:srgbClr val="1B1B1B"/>
            </a:solidFill>
            <a:ln w="12700">
              <a:solidFill>
                <a:srgbClr val="2D2D2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75520" y="1600200"/>
              <a:ext cx="21031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F5B942"/>
                  </a:solidFill>
                  <a:latin typeface="Consolas"/>
                </a:defRPr>
              </a:pPr>
              <a:r>
                <a:t>7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75520" y="2011680"/>
              <a:ext cx="21031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4E4A44"/>
                  </a:solidFill>
                  <a:latin typeface="Consolas"/>
                </a:defRPr>
              </a:pPr>
              <a:r>
                <a:t>MODELS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98079" y="2651760"/>
              <a:ext cx="2103120" cy="1005840"/>
            </a:xfrm>
            <a:prstGeom prst="roundRect">
              <a:avLst>
                <a:gd name="adj" fmla="val 5000"/>
              </a:avLst>
            </a:prstGeom>
            <a:solidFill>
              <a:srgbClr val="1B1B1B"/>
            </a:solidFill>
            <a:ln w="12700">
              <a:solidFill>
                <a:srgbClr val="2D2D2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98079" y="2788920"/>
              <a:ext cx="21031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4ADE80"/>
                  </a:solidFill>
                  <a:latin typeface="Consolas"/>
                </a:defRPr>
              </a:pPr>
              <a:r>
                <a:t>0.421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98079" y="3200400"/>
              <a:ext cx="21031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4E4A44"/>
                  </a:solidFill>
                  <a:latin typeface="Consolas"/>
                </a:defRPr>
              </a:pPr>
              <a:r>
                <a:t>BEST RMSE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875520" y="2651760"/>
              <a:ext cx="2103120" cy="1005840"/>
            </a:xfrm>
            <a:prstGeom prst="roundRect">
              <a:avLst>
                <a:gd name="adj" fmla="val 5000"/>
              </a:avLst>
            </a:prstGeom>
            <a:solidFill>
              <a:srgbClr val="1B1B1B"/>
            </a:solidFill>
            <a:ln w="12700">
              <a:solidFill>
                <a:srgbClr val="2D2D2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875520" y="2788920"/>
              <a:ext cx="21031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EBE5D8"/>
                  </a:solidFill>
                  <a:latin typeface="Consolas"/>
                </a:defRPr>
              </a:pPr>
              <a:r>
                <a:t>0.867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75520" y="3200400"/>
              <a:ext cx="210312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900" b="0">
                  <a:solidFill>
                    <a:srgbClr val="4E4A44"/>
                  </a:solidFill>
                  <a:latin typeface="Consolas"/>
                </a:defRPr>
              </a:pPr>
              <a:r>
                <a:t>PEARSON 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rPr dirty="0"/>
              <a:t>Problem · Solution ·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91639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rPr sz="1600" dirty="0"/>
              <a:t>🚨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95942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400" dirty="0"/>
              <a:t>• Experimental screening is slow &amp; costs billions</a:t>
            </a:r>
            <a:br>
              <a:rPr sz="1400" dirty="0"/>
            </a:br>
            <a:r>
              <a:rPr sz="1400" dirty="0"/>
              <a:t>• Combinatorial explosion: thousands of drugs × hundreds of proteins</a:t>
            </a:r>
            <a:br>
              <a:rPr sz="1400" dirty="0"/>
            </a:br>
            <a:r>
              <a:rPr sz="1400" dirty="0"/>
              <a:t>• Most AI models lack interpretability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91639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rPr sz="1600" dirty="0"/>
              <a:t>💡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5942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400"/>
              <a:t>• ML framework predicting binding from SMILES + protein sequence</a:t>
            </a:r>
            <a:br>
              <a:rPr sz="1400"/>
            </a:br>
            <a:r>
              <a:rPr sz="1400"/>
              <a:t>• 7-model comparison: baselines → XGBoost → CNN → GNN</a:t>
            </a:r>
            <a:br>
              <a:rPr sz="1400"/>
            </a:br>
            <a:r>
              <a:rPr sz="1400"/>
              <a:t>• SHAP explainability for every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9776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🎯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481942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400"/>
              <a:t>• Accelerate early-stage drug candidate prioritization</a:t>
            </a:r>
            <a:br>
              <a:rPr sz="1400"/>
            </a:br>
            <a:r>
              <a:rPr sz="1400"/>
              <a:t>• Provide trustworthy, interpretable predictions</a:t>
            </a:r>
            <a:br>
              <a:rPr sz="1400"/>
            </a:br>
            <a:r>
              <a:rPr sz="1400"/>
              <a:t>• Enable batch screening for researchers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4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📐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1942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400"/>
              <a:t>• KIBA benchmark dataset (kinase inhibitors)</a:t>
            </a:r>
            <a:br>
              <a:rPr sz="1400"/>
            </a:br>
            <a:r>
              <a:rPr sz="1400"/>
              <a:t>• Continuous binding affinity prediction</a:t>
            </a:r>
            <a:br>
              <a:rPr sz="1400"/>
            </a:br>
            <a:r>
              <a:rPr sz="1400"/>
              <a:t>• Web app for interactive prediction &amp; screening</a:t>
            </a:r>
            <a:br>
              <a:rPr sz="1400"/>
            </a:br>
            <a:r>
              <a:rPr sz="1400"/>
              <a:t>• Does not replace experimental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Research Papers (IEEE / Scopus Indexed)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88232"/>
              </p:ext>
            </p:extLst>
          </p:nvPr>
        </p:nvGraphicFramePr>
        <p:xfrm>
          <a:off x="640080" y="189715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Title &amp; Authors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Publication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Key Contribution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DeepDTA — Öztürk H. et al.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Bioinformatics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CNN on raw SMILES + protein sequence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GraphDTA — Nguyen T. et al.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Bioinformatics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GNN on molecular graphs; captures topology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KIBA Score — Tang J. et al.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2014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J. Chem. Inf. Model.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Unified bioactivity score (Ki + Kd + IC50)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KronRLS — Pahikkala T. et al.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2015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Brief. Bioinform.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Cold-start evaluation protocol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SimBoost — He T. et al.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J. Cheminform.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Gradient boosting for DTI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TransformerCPI — Chen L. et al.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Bioinformatics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Transformer attention for CPI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DeepConv-DTI — Lee I. et al.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PLOS Comput. Biol.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Deep conv on protein subsequences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MGraphDTA — Yang Z. et al.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Chemical Science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Multi-scale GNN local + global features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AttentionDTA — Zhao Q. et al.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IEEE/ACM Trans. CBB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Attention on drug/protein sub-regions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SHAP — Lundberg S. et al.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NeurIPS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dirty="0"/>
                        <a:t>Shapley-value feature attribution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COMPARATIVE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Existing Systems vs PharmaLens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394167"/>
              </p:ext>
            </p:extLst>
          </p:nvPr>
        </p:nvGraphicFramePr>
        <p:xfrm>
          <a:off x="640080" y="1980275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rPr dirty="0"/>
                        <a:t>Feature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DeepDTA '18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GraphDTA '21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MGraphDTA '22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PharmaLens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Multi-model comparison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7 models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Traditional ML baselines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Ridge, RF, XGBoost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Deep Learning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CNN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GNN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Multi-GNN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CNN + GNN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SHAP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Cold-start evaluation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Drug + Target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Hyperparameter tuning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Bayesian (Optuna)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Web application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✓ FastAPI + UI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dirty="0"/>
                        <a:t>Batch screening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rPr dirty="0"/>
                        <a:t>✓ Drug × Target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3023"/>
            <a:ext cx="331307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4139" y="1826535"/>
            <a:ext cx="294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🐍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139" y="2397106"/>
            <a:ext cx="2944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Python 3.12 · JavaScript ES6+ · HTML5/CSS3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9246" y="1693023"/>
            <a:ext cx="349713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3306" y="1826535"/>
            <a:ext cx="3129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📊 ML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306" y="2397106"/>
            <a:ext cx="3129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scikit-learn 1.3+ · XGBoost 2.0+ · Optuna 3.0+</a:t>
            </a:r>
            <a:br>
              <a:rPr sz="1400"/>
            </a:br>
            <a:r>
              <a:rPr sz="1400"/>
              <a:t>NumPy 1.24+ · Pandas 2.0+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2470" y="1693023"/>
            <a:ext cx="358916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6530" y="1826535"/>
            <a:ext cx="3221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🧠 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6530" y="2397106"/>
            <a:ext cx="3221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PyTorch 2.0+ · PyTorch Geometric 2.4+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18239"/>
            <a:ext cx="331307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139" y="4051752"/>
            <a:ext cx="294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⚗️ Chemistry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39" y="4622322"/>
            <a:ext cx="29449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RDKit 2024.03+</a:t>
            </a:r>
            <a:br>
              <a:rPr sz="1400"/>
            </a:br>
            <a:r>
              <a:rPr sz="1400"/>
              <a:t>SMILES validation, descriptors, fingerprints, graphs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9246" y="3918239"/>
            <a:ext cx="349713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3306" y="4051752"/>
            <a:ext cx="3129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💡 Explainability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306" y="4622322"/>
            <a:ext cx="3129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SHAP 0.43+</a:t>
            </a:r>
            <a:br>
              <a:rPr sz="1400"/>
            </a:br>
            <a:r>
              <a:rPr sz="1400"/>
              <a:t>TreeExplainer, summary, waterfall, dependence plots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2470" y="3918239"/>
            <a:ext cx="3589166" cy="1891433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6530" y="4051752"/>
            <a:ext cx="3221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E5D8"/>
                </a:solidFill>
                <a:latin typeface="Calibri"/>
              </a:defRPr>
            </a:pPr>
            <a:r>
              <a:rPr sz="1600"/>
              <a:t>🌐 Web &amp; Viz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530" y="4622322"/>
            <a:ext cx="32210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5AE9F"/>
                </a:solidFill>
                <a:latin typeface="Calibri"/>
              </a:defRPr>
            </a:pPr>
            <a:r>
              <a:rPr sz="1400"/>
              <a:t>FastAPI 0.100+ · Uvicorn 0.23+</a:t>
            </a:r>
            <a:br>
              <a:rPr sz="1400"/>
            </a:br>
            <a:r>
              <a:rPr sz="1400"/>
              <a:t>Matplotlib 3.7+ · Seaborn 0.12+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System Capabilities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19846"/>
              </p:ext>
            </p:extLst>
          </p:nvPr>
        </p:nvGraphicFramePr>
        <p:xfrm>
          <a:off x="640080" y="1499984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dirty="0"/>
                        <a:t>The system shall allow users to input drug molecules via SMILES string or by selecting from the KIBA dataset.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allow users to input protein targets via amino acid sequence or by selecting from the dataset.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FR-03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predict binding affinity scores for a given drug–target pair using the trained ML model.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FR-04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validate user inputs (SMILES validity via RDKit, sequence format) and display appropriate error messages.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perform batch screening across multiple drug × target combinations and return ranked results.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provide SHAP-based explanations for each prediction, showing which molecular features contributed most.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FR-07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display drug information including MW, LogP, TPSA, HBD, HBA, and structural fingerprint details.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FR-08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allow users to compare multiple ML models (Ridge, RF, XGBoost, DeepDTA, GraphDTA) on evaluation metrics.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FR-09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display dataset exploration views including score distributions, drug/target counts, and statistics.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expose a REST API (FastAPI) for programmatic access to prediction, screening, and explanation endpoints.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FR-11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t>The system shall provide a web-based dashboard for interactive prediction, screening, model comparison, and exploration.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t>FR-12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dirty="0"/>
                        <a:t>The system shall display appropriate disclaimers indicating predictions are computational and do not replace lab validation.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Quality 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769668"/>
              </p:ext>
            </p:extLst>
          </p:nvPr>
        </p:nvGraphicFramePr>
        <p:xfrm>
          <a:off x="640080" y="14630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rPr sz="1000" dirty="0"/>
                        <a:t>ID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4E4A44"/>
                          </a:solidFill>
                          <a:latin typeface="Calibri"/>
                        </a:defRPr>
                      </a:pPr>
                      <a:r>
                        <a:rPr sz="1000"/>
                        <a:t>Requirement</a:t>
                      </a:r>
                    </a:p>
                  </a:txBody>
                  <a:tcPr anchor="ctr"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 dirty="0"/>
                        <a:t>NFR-01 — Performance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Single predictions shall be returned within 100ms; batch screening of 200 pairs within 5 seconds.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NFR-02 — Availability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 dirty="0"/>
                        <a:t>The system should remain available and functional during normal operating hours with minimal downtime.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NFR-03 — Usability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web interface should be simple, intuitive, and responsive, allowing users to submit predictions with minimal steps.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NFR-04 — Security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API endpoints shall be protected with appropriate input sanitization and rate limiting to prevent misuse.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NFR-05 — Accuracy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Predictions shall originate from models trained on the validated KIBA benchmark dataset with documented metrics.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NFR-06 — Reliability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system should handle invalid SMILES, malformed sequences, and errors without crashing.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NFR-07 — Reproducibility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All experiments shall use fixed random seeds (42) and persisted splits to ensure reproducible results.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NFR-08 — Scalability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architecture should support increase in drug records, targets, and API requests without major redesign.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NFR-09 — Modularity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software shall use a modular architecture so preprocessing, features, models, evaluation can be independently maintained.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NFR-10 — Compatibility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web application should work correctly on commonly used modern browsers (Chrome, Firefox, Edge).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NFR-11 — Responsiveness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 dirty="0"/>
                        <a:t>The UI should adapt appropriately to desktop and tablet screen sizes.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NFR-12 — Interpretability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Every prediction shall be accompanied by a SHAP-based explanation so users understand the reasoning.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NFR-13 — Extensibility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/>
                        <a:t>The system should allow future integration of additional datasets, models, or drug databases via modular pipeline.</a:t>
                      </a:r>
                    </a:p>
                  </a:txBody>
                  <a:tcPr anchor="ctr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BE5D8"/>
                          </a:solidFill>
                          <a:latin typeface="Calibri"/>
                        </a:defRPr>
                      </a:pPr>
                      <a:r>
                        <a:rPr sz="1000"/>
                        <a:t>NFR-14 — Data Integrity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5AE9F"/>
                          </a:solidFill>
                          <a:latin typeface="Calibri"/>
                        </a:defRPr>
                      </a:pPr>
                      <a:r>
                        <a:rPr sz="1000" dirty="0"/>
                        <a:t>Model artifacts and dataset files should not be accidentally modified; checksums and version tracking maintained.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System Architecture — Component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«datastore»</a:t>
            </a:r>
            <a:br/>
            <a:r>
              <a:t>KIBA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«component»</a:t>
            </a:r>
            <a:br/>
            <a: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5448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«component»</a:t>
            </a:r>
            <a:br/>
            <a:r>
              <a:t>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4A44"/>
                </a:solidFill>
                <a:latin typeface="Calibri"/>
              </a:defRPr>
            </a:pPr>
            <a:r>
              <a:rPr dirty="0"/>
              <a:t>──▶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4A44"/>
                </a:solidFill>
                <a:latin typeface="Calibri"/>
              </a:defRPr>
            </a:pPr>
            <a:r>
              <a:t>──▶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0320"/>
            <a:ext cx="3200400" cy="54864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B942"/>
                </a:solidFill>
                <a:latin typeface="Calibri"/>
              </a:defRPr>
            </a:pPr>
            <a:r>
              <a:t>💊 Drug: Descriptors + FP → 1034D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560320"/>
            <a:ext cx="3200400" cy="54864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EF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6F5C"/>
                </a:solidFill>
                <a:latin typeface="Calibri"/>
              </a:defRPr>
            </a:pPr>
            <a:r>
              <a:t>🧬 Protein: AAC + DPC → 420D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00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  concat → 1454D 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65760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AE9F"/>
                </a:solidFill>
                <a:latin typeface="Calibri"/>
              </a:defRPr>
            </a:pPr>
            <a:r>
              <a:t>Ridge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65760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AE9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65760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Calibri"/>
              </a:defRPr>
            </a:pPr>
            <a:r>
              <a:t>★ XGBoost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65760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B942"/>
                </a:solidFill>
                <a:latin typeface="Calibri"/>
              </a:defRPr>
            </a:pPr>
            <a:r>
              <a:t>DeepDTA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657600"/>
            <a:ext cx="164592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B942"/>
                </a:solidFill>
                <a:latin typeface="Calibri"/>
              </a:defRPr>
            </a:pPr>
            <a:r>
              <a:t>GraphDTA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4A4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66344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0" y="4709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«component»</a:t>
            </a:r>
            <a:br/>
            <a:r>
              <a:t>📈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800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4A44"/>
                </a:solidFill>
                <a:latin typeface="Calibri"/>
              </a:defRPr>
            </a:pPr>
            <a:r>
              <a:t>──▶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66344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«component»</a:t>
            </a:r>
            <a:br/>
            <a:r>
              <a:t>🧠 SHAP 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E4A4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566928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DE80"/>
                </a:solidFill>
                <a:latin typeface="Calibri"/>
              </a:defRPr>
            </a:pPr>
            <a:r>
              <a:t>«service»</a:t>
            </a:r>
            <a:br/>
            <a:r>
              <a:t>🔌 FastAPI 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806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4A44"/>
                </a:solidFill>
                <a:latin typeface="Calibri"/>
              </a:defRPr>
            </a:pPr>
            <a:r>
              <a:t>──▶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669280"/>
            <a:ext cx="2286000" cy="59436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DE80"/>
                </a:solidFill>
                <a:latin typeface="Calibri"/>
              </a:defRPr>
            </a:pPr>
            <a:r>
              <a:t>«interface»</a:t>
            </a:r>
            <a:br/>
            <a:r>
              <a:t>🖥️ Web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ML Process Flow — Activity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541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998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① Data Collection — KIBA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399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856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② Exploratory Data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257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714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③ Preprocessing &amp;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115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572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B942"/>
                </a:solidFill>
                <a:latin typeface="Calibri"/>
              </a:defRPr>
            </a:pPr>
            <a:r>
              <a:t>④ 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9973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430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B942"/>
                </a:solidFill>
                <a:latin typeface="Calibri"/>
              </a:defRPr>
            </a:pPr>
            <a:r>
              <a:t>⑤ Train / Val / 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196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rPr dirty="0"/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054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912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770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2541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2998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⑥ Model Training (×7)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9399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9856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⑦ Hyperparameter Tuning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6257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EF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6714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6F5C"/>
                </a:solidFill>
                <a:latin typeface="Calibri"/>
              </a:defRPr>
            </a:pPr>
            <a:r>
              <a:t>⑧ Cold-Start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43115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3572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⑨ SHAP Explainability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997334"/>
            <a:ext cx="4572000" cy="50292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504305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⑩ Deployment (API + Web)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196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4054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0912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7705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4A44"/>
                </a:solidFill>
                <a:latin typeface="Calibr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Dataset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74548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11707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Consolas"/>
              </a:defRPr>
            </a:pPr>
            <a:r>
              <a:t>118,254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146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74548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811707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B942"/>
                </a:solidFill>
                <a:latin typeface="Consolas"/>
              </a:defRPr>
            </a:pPr>
            <a:r>
              <a:t>2,111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146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DRUGS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74548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811707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6F5C"/>
                </a:solidFill>
                <a:latin typeface="Consolas"/>
              </a:defRPr>
            </a:pPr>
            <a:r>
              <a:t>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146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674548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1811707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BE5D8"/>
                </a:solidFill>
                <a:latin typeface="Consolas"/>
              </a:defRPr>
            </a:pPr>
            <a:r>
              <a:t>0 – 17.2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146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SCORE 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37588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2290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t>💊 Drug Representation → 1,034D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4050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• 10 molecular descriptors: MW, LogP, TPSA, HBD, HBA, rotatable bonds, aromatic rings, Csp3, heavy atoms, ring count</a:t>
            </a:r>
            <a:br/>
            <a:br/>
            <a:r>
              <a:t>• 1,024-bit Morgan fingerprint: circular substructure encoding (ECFP4, radius=2)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37588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2290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t>🧬 Protein Representation → 420D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4050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t>• AAC (20D): frequency of each standard amino acid</a:t>
            </a:r>
            <a:br/>
            <a:br/>
            <a:r>
              <a:t>• DPC (400D): frequency of each consecutive amino acid pair (20 × 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807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5AE9F"/>
                </a:solidFill>
                <a:latin typeface="Calibri"/>
              </a:defRPr>
            </a:pPr>
            <a:r>
              <a:t>Per pair: concat(drug₁₀₃₄, protein₄₂₀) = 1,454-dimensional input vector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Model Comparison — RMSE (lower is better)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Calibri"/>
              </a:defRPr>
            </a:pPr>
            <a:r>
              <a:t>★ XGBoost Tuned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08760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03120" y="1508760"/>
            <a:ext cx="3890820" cy="347472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38908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0.421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842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DeepDTA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984248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3120" y="1984248"/>
            <a:ext cx="3927788" cy="347472"/>
          </a:xfrm>
          <a:prstGeom prst="roundRect">
            <a:avLst>
              <a:gd name="adj" fmla="val 15000"/>
            </a:avLst>
          </a:prstGeom>
          <a:solidFill>
            <a:srgbClr val="352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1984248"/>
            <a:ext cx="39277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5B942"/>
                </a:solidFill>
                <a:latin typeface="Consolas"/>
              </a:defRPr>
            </a:pPr>
            <a:r>
              <a:t>0.425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59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GraphDTA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459736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03120" y="2459736"/>
            <a:ext cx="3973997" cy="347472"/>
          </a:xfrm>
          <a:prstGeom prst="roundRect">
            <a:avLst>
              <a:gd name="adj" fmla="val 15000"/>
            </a:avLst>
          </a:prstGeom>
          <a:solidFill>
            <a:srgbClr val="352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3120" y="2459736"/>
            <a:ext cx="397399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5B942"/>
                </a:solidFill>
                <a:latin typeface="Consolas"/>
              </a:defRPr>
            </a:pPr>
            <a:r>
              <a:t>0.43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2935224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03120" y="2935224"/>
            <a:ext cx="4020206" cy="347472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3120" y="2935224"/>
            <a:ext cx="40202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0.435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410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410712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103120" y="3410712"/>
            <a:ext cx="4500783" cy="347472"/>
          </a:xfrm>
          <a:prstGeom prst="roundRect">
            <a:avLst>
              <a:gd name="adj" fmla="val 1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3410712"/>
            <a:ext cx="45007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568"/>
                </a:solidFill>
                <a:latin typeface="Consolas"/>
              </a:defRPr>
            </a:pPr>
            <a:r>
              <a:t>0.487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8862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Ridge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886200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103120" y="3886200"/>
            <a:ext cx="6053414" cy="347472"/>
          </a:xfrm>
          <a:prstGeom prst="roundRect">
            <a:avLst>
              <a:gd name="adj" fmla="val 15000"/>
            </a:avLst>
          </a:prstGeom>
          <a:solidFill>
            <a:srgbClr val="35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03120" y="3886200"/>
            <a:ext cx="605341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6F5C"/>
                </a:solidFill>
                <a:latin typeface="Consolas"/>
              </a:defRPr>
            </a:pPr>
            <a:r>
              <a:t>0.655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Mean Predictor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361688"/>
            <a:ext cx="7772400" cy="347472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03120" y="4361688"/>
            <a:ext cx="7772400" cy="347472"/>
          </a:xfrm>
          <a:prstGeom prst="roundRect">
            <a:avLst>
              <a:gd name="adj" fmla="val 1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03120" y="436168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E4A44"/>
                </a:solidFill>
                <a:latin typeface="Consolas"/>
              </a:defRPr>
            </a:pPr>
            <a:r>
              <a:t>0.841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57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Consolas"/>
              </a:defRPr>
            </a:pPr>
            <a:r>
              <a:t>0.867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BEST PEARSON 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512064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5257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B942"/>
                </a:solidFill>
                <a:latin typeface="Consolas"/>
              </a:defRPr>
            </a:pPr>
            <a:r>
              <a:t>0.750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669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BEST R²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12064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5257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BE5D8"/>
                </a:solidFill>
                <a:latin typeface="Consolas"/>
              </a:defRPr>
            </a:pPr>
            <a:r>
              <a:t>5.4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669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BEST TRAIN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12064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6F5C"/>
                </a:solidFill>
                <a:latin typeface="Consolas"/>
              </a:defRPr>
            </a:pPr>
            <a:r>
              <a:t>100×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6692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E4A44"/>
                </a:solidFill>
                <a:latin typeface="Consolas"/>
              </a:defRPr>
            </a:pPr>
            <a:r>
              <a:t>FASTER THAN DL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Tuning &amp; Cold-Start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t>⚙️ Optuna Tuning — 50 Trials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568"/>
                </a:solidFill>
                <a:latin typeface="Consolas"/>
              </a:defRPr>
            </a:pPr>
            <a:r>
              <a:t>RMSE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E4A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377439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63040" y="2377439"/>
            <a:ext cx="1789938" cy="274320"/>
          </a:xfrm>
          <a:prstGeom prst="roundRect">
            <a:avLst>
              <a:gd name="adj" fmla="val 15000"/>
            </a:avLst>
          </a:prstGeom>
          <a:solidFill>
            <a:srgbClr val="35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377439"/>
            <a:ext cx="17899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F6F5C"/>
                </a:solidFill>
                <a:latin typeface="Consolas"/>
              </a:defRPr>
            </a:pPr>
            <a:r>
              <a:t>0.435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ADE8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697479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63040" y="2697479"/>
            <a:ext cx="1732330" cy="274320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79"/>
            <a:ext cx="17323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0.421 ↓3.2%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568"/>
                </a:solidFill>
                <a:latin typeface="Consolas"/>
              </a:defRPr>
            </a:pPr>
            <a:r>
              <a:t>Pearson r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E4A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749039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463040" y="3749039"/>
            <a:ext cx="3526383" cy="274320"/>
          </a:xfrm>
          <a:prstGeom prst="roundRect">
            <a:avLst>
              <a:gd name="adj" fmla="val 15000"/>
            </a:avLst>
          </a:prstGeom>
          <a:solidFill>
            <a:srgbClr val="352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3749039"/>
            <a:ext cx="35263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5B942"/>
                </a:solidFill>
                <a:latin typeface="Consolas"/>
              </a:defRPr>
            </a:pPr>
            <a:r>
              <a:t>0.857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ADE8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069080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463040" y="4069080"/>
            <a:ext cx="3567531" cy="274320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069080"/>
            <a:ext cx="35675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0.867 ↑+0.01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568"/>
                </a:solidFill>
                <a:latin typeface="Consolas"/>
              </a:defRPr>
            </a:pPr>
            <a:r>
              <a:t>R² 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E4A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5120640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463040" y="5120640"/>
            <a:ext cx="3016148" cy="274320"/>
          </a:xfrm>
          <a:prstGeom prst="roundRect">
            <a:avLst>
              <a:gd name="adj" fmla="val 15000"/>
            </a:avLst>
          </a:prstGeom>
          <a:solidFill>
            <a:srgbClr val="352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5120640"/>
            <a:ext cx="30161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5B942"/>
                </a:solidFill>
                <a:latin typeface="Consolas"/>
              </a:defRPr>
            </a:pPr>
            <a:r>
              <a:t>0.733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ADE8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5440680"/>
            <a:ext cx="4389120" cy="274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463040" y="5440680"/>
            <a:ext cx="3086100" cy="274320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63040" y="5440680"/>
            <a:ext cx="30861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0.75 ↑+0.017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t>❄️ Cold-Start RMSE —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17182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0.435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446145"/>
            <a:ext cx="914400" cy="1491614"/>
          </a:xfrm>
          <a:prstGeom prst="roundRect">
            <a:avLst>
              <a:gd name="adj" fmla="val 5000"/>
            </a:avLst>
          </a:prstGeom>
          <a:solidFill>
            <a:srgbClr val="0B41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69519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B942"/>
                </a:solidFill>
                <a:latin typeface="Consolas"/>
              </a:defRPr>
            </a:pPr>
            <a:r>
              <a:t>0.574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2969514"/>
            <a:ext cx="914400" cy="1968245"/>
          </a:xfrm>
          <a:prstGeom prst="roundRect">
            <a:avLst>
              <a:gd name="adj" fmla="val 5000"/>
            </a:avLst>
          </a:prstGeom>
          <a:solidFill>
            <a:srgbClr val="513D16"/>
          </a:solidFill>
          <a:ln w="1270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Cold-Drug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63004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6F5C"/>
                </a:solidFill>
                <a:latin typeface="Consolas"/>
              </a:defRPr>
            </a:pPr>
            <a:r>
              <a:t>0.593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2904363"/>
            <a:ext cx="914400" cy="2033397"/>
          </a:xfrm>
          <a:prstGeom prst="roundRect">
            <a:avLst>
              <a:gd name="adj" fmla="val 5000"/>
            </a:avLst>
          </a:prstGeom>
          <a:solidFill>
            <a:srgbClr val="4F251E"/>
          </a:solidFill>
          <a:ln w="12700">
            <a:solidFill>
              <a:srgbClr val="EF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5AE9F"/>
                </a:solidFill>
                <a:latin typeface="Calibri"/>
              </a:defRPr>
            </a:pPr>
            <a:r>
              <a:t>Cold-Target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394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6F5C"/>
                </a:solidFill>
                <a:latin typeface="Calibri"/>
              </a:defRPr>
            </a:pPr>
            <a:r>
              <a:t>▲ +32% drop          ▲ +36% drop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15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4A44"/>
                </a:solidFill>
                <a:latin typeface="Calibri"/>
              </a:defRPr>
            </a:pPr>
            <a:r>
              <a:t>Unseen proteins harder than unseen drugs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rPr dirty="0"/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t>SHAP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BE5D8"/>
                </a:solidFill>
                <a:latin typeface="Calibri"/>
              </a:defRPr>
            </a:pPr>
            <a:r>
              <a:rPr sz="1600" dirty="0"/>
              <a:t>Feature Category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757" y="2438663"/>
            <a:ext cx="1371600" cy="47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5AE9F"/>
                </a:solidFill>
                <a:latin typeface="Calibri"/>
              </a:defRPr>
            </a:pPr>
            <a:r>
              <a:rPr dirty="0"/>
              <a:t>💊 Drug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16797" y="2438663"/>
            <a:ext cx="4114800" cy="545737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16797" y="2438663"/>
            <a:ext cx="2756916" cy="545737"/>
          </a:xfrm>
          <a:prstGeom prst="roundRect">
            <a:avLst>
              <a:gd name="adj" fmla="val 15000"/>
            </a:avLst>
          </a:prstGeom>
          <a:solidFill>
            <a:srgbClr val="14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16797" y="2438663"/>
            <a:ext cx="2756916" cy="54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~67%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757" y="3189051"/>
            <a:ext cx="1371600" cy="47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B5AE9F"/>
                </a:solidFill>
                <a:latin typeface="Calibri"/>
              </a:defRPr>
            </a:pPr>
            <a:r>
              <a:t>🧬 Protein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6797" y="3189051"/>
            <a:ext cx="4114800" cy="545737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16797" y="3189051"/>
            <a:ext cx="1357884" cy="545737"/>
          </a:xfrm>
          <a:prstGeom prst="roundRect">
            <a:avLst>
              <a:gd name="adj" fmla="val 15000"/>
            </a:avLst>
          </a:prstGeom>
          <a:solidFill>
            <a:srgbClr val="352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16797" y="3189051"/>
            <a:ext cx="1357884" cy="54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5B942"/>
                </a:solidFill>
                <a:latin typeface="Consolas"/>
              </a:defRPr>
            </a:pPr>
            <a:r>
              <a:t>~33%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6092"/>
            <a:ext cx="5577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b="0">
                <a:solidFill>
                  <a:srgbClr val="7A7568"/>
                </a:solidFill>
                <a:latin typeface="Calibri"/>
              </a:defRPr>
            </a:pPr>
            <a:r>
              <a:rPr sz="1600" dirty="0"/>
              <a:t>Drug structural features dominate predictions —</a:t>
            </a:r>
            <a:br>
              <a:rPr sz="1600" dirty="0"/>
            </a:br>
            <a:r>
              <a:rPr sz="1600" dirty="0"/>
              <a:t>molecular substructures determine binding pocket fit.</a:t>
            </a:r>
            <a:br>
              <a:rPr sz="1600" dirty="0"/>
            </a:br>
            <a:r>
              <a:rPr sz="1600" dirty="0"/>
              <a:t>Consistent with biochemical expectation.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E5D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0003" y="2362662"/>
            <a:ext cx="430968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400" dirty="0"/>
              <a:t>• Morgan FP bits — strongest predictors;</a:t>
            </a:r>
            <a:br>
              <a:rPr sz="1400" dirty="0"/>
            </a:br>
            <a:r>
              <a:rPr sz="1400" dirty="0"/>
              <a:t>  specific substructures drive binding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LogP</a:t>
            </a:r>
            <a:r>
              <a:rPr sz="1400" dirty="0"/>
              <a:t>, MW, TPSA — top molecular descriptors;</a:t>
            </a:r>
            <a:br>
              <a:rPr sz="1400" dirty="0"/>
            </a:br>
            <a:r>
              <a:rPr sz="1400" dirty="0"/>
              <a:t>  lipophilicity and size matter</a:t>
            </a:r>
            <a:br>
              <a:rPr sz="1400" dirty="0"/>
            </a:br>
            <a:br>
              <a:rPr sz="1400" dirty="0"/>
            </a:br>
            <a:r>
              <a:rPr sz="1400" dirty="0"/>
              <a:t>• Dipeptide composition — main protein-side signal</a:t>
            </a:r>
            <a:br>
              <a:rPr sz="1400" dirty="0"/>
            </a:br>
            <a:br>
              <a:rPr sz="1400" dirty="0"/>
            </a:br>
            <a:r>
              <a:rPr sz="1400" dirty="0"/>
              <a:t>• Every prediction decomposable via waterfall plots</a:t>
            </a:r>
            <a:br>
              <a:rPr sz="1400" dirty="0"/>
            </a:br>
            <a:br>
              <a:rPr sz="1400" dirty="0"/>
            </a:br>
            <a:r>
              <a:rPr sz="1400" dirty="0"/>
              <a:t>• 37 publication-ready figures generated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rPr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E5D8"/>
                </a:solidFill>
                <a:latin typeface="Calibri"/>
              </a:defRPr>
            </a:pPr>
            <a:r>
              <a:rPr dirty="0"/>
              <a:t>IEEE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8876" y="2073563"/>
            <a:ext cx="103142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5AE9F"/>
                </a:solidFill>
                <a:latin typeface="Calibri"/>
              </a:defRPr>
            </a:pPr>
            <a:r>
              <a:rPr sz="1600" dirty="0"/>
              <a:t>[1] H. Öztürk et al., "</a:t>
            </a:r>
            <a:r>
              <a:rPr sz="1600" dirty="0" err="1"/>
              <a:t>DeepDTA</a:t>
            </a:r>
            <a:r>
              <a:rPr sz="1600" dirty="0"/>
              <a:t>: deep drug–target binding affinity prediction," Bioinformatics, vol. 34, pp. i821–i829, 2018.</a:t>
            </a:r>
            <a:br>
              <a:rPr sz="1600" dirty="0"/>
            </a:br>
            <a:r>
              <a:rPr sz="1600" dirty="0"/>
              <a:t>[2] T. Nguyen et al., "</a:t>
            </a:r>
            <a:r>
              <a:rPr sz="1600" dirty="0" err="1"/>
              <a:t>GraphDTA</a:t>
            </a:r>
            <a:r>
              <a:rPr sz="1600" dirty="0"/>
              <a:t>: predicting DTI with graph neural networks," Bioinformatics, vol. 37, pp. 1140–1147, 2021.</a:t>
            </a:r>
            <a:br>
              <a:rPr sz="1600" dirty="0"/>
            </a:br>
            <a:r>
              <a:rPr sz="1600" dirty="0"/>
              <a:t>[3] J. Tang et al., "Making sense of large-scale kinase inhibitor bioactivity," J. Chem. Inf. Model., vol. 54, pp. 735–743, 2014.</a:t>
            </a:r>
            <a:br>
              <a:rPr sz="1600" dirty="0"/>
            </a:br>
            <a:r>
              <a:rPr sz="1600" dirty="0"/>
              <a:t>[4] T. </a:t>
            </a:r>
            <a:r>
              <a:rPr sz="1600" dirty="0" err="1"/>
              <a:t>Pahikkala</a:t>
            </a:r>
            <a:r>
              <a:rPr sz="1600" dirty="0"/>
              <a:t> et al., "Toward more realistic DTI predictions," Brief. </a:t>
            </a:r>
            <a:r>
              <a:rPr sz="1600" dirty="0" err="1"/>
              <a:t>Bioinform</a:t>
            </a:r>
            <a:r>
              <a:rPr sz="1600" dirty="0"/>
              <a:t>., vol. 16, pp. 325–337, 2015.</a:t>
            </a:r>
            <a:br>
              <a:rPr sz="1600" dirty="0"/>
            </a:br>
            <a:r>
              <a:rPr sz="1600" dirty="0"/>
              <a:t>[5] T. He et al., "</a:t>
            </a:r>
            <a:r>
              <a:rPr sz="1600" dirty="0" err="1"/>
              <a:t>SimBoost</a:t>
            </a:r>
            <a:r>
              <a:rPr sz="1600" dirty="0"/>
              <a:t>: predicting drug–target binding affinities," J. </a:t>
            </a:r>
            <a:r>
              <a:rPr sz="1600" dirty="0" err="1"/>
              <a:t>Cheminform</a:t>
            </a:r>
            <a:r>
              <a:rPr sz="1600" dirty="0"/>
              <a:t>., vol. 9, p. 24, 2017.</a:t>
            </a:r>
            <a:br>
              <a:rPr sz="1600" dirty="0"/>
            </a:br>
            <a:r>
              <a:rPr sz="1600" dirty="0"/>
              <a:t>[6] L. Chen et al., "</a:t>
            </a:r>
            <a:r>
              <a:rPr sz="1600" dirty="0" err="1"/>
              <a:t>TransformerCPI</a:t>
            </a:r>
            <a:r>
              <a:rPr sz="1600" dirty="0"/>
              <a:t>," Bioinformatics, vol. 36, pp. 4406–4414, 2020.</a:t>
            </a:r>
            <a:br>
              <a:rPr sz="1600" dirty="0"/>
            </a:br>
            <a:r>
              <a:rPr sz="1600" dirty="0"/>
              <a:t>[7] I. Lee et al., "</a:t>
            </a:r>
            <a:r>
              <a:rPr sz="1600" dirty="0" err="1"/>
              <a:t>DeepConv</a:t>
            </a:r>
            <a:r>
              <a:rPr sz="1600" dirty="0"/>
              <a:t>-DTI," PLOS </a:t>
            </a:r>
            <a:r>
              <a:rPr sz="1600" dirty="0" err="1"/>
              <a:t>Comput</a:t>
            </a:r>
            <a:r>
              <a:rPr sz="1600" dirty="0"/>
              <a:t>. Biol., vol. 15, e1007129, 2019.</a:t>
            </a:r>
            <a:br>
              <a:rPr sz="1600" dirty="0"/>
            </a:br>
            <a:r>
              <a:rPr sz="1600" dirty="0"/>
              <a:t>[8] Z. Yang et al., "</a:t>
            </a:r>
            <a:r>
              <a:rPr sz="1600" dirty="0" err="1"/>
              <a:t>MGraphDTA</a:t>
            </a:r>
            <a:r>
              <a:rPr sz="1600" dirty="0"/>
              <a:t>," Chem. Sci., vol. 13, pp. 816–833, 2022.</a:t>
            </a:r>
            <a:br>
              <a:rPr sz="1600" dirty="0"/>
            </a:br>
            <a:r>
              <a:rPr sz="1600" dirty="0"/>
              <a:t>[9] Q. Zhao et al., "</a:t>
            </a:r>
            <a:r>
              <a:rPr sz="1600" dirty="0" err="1"/>
              <a:t>AttentionDTA</a:t>
            </a:r>
            <a:r>
              <a:rPr sz="1600" dirty="0"/>
              <a:t>," IEEE/ACM Trans. CBB, vol. 20, pp. 228–237, 2022.</a:t>
            </a:r>
            <a:br>
              <a:rPr sz="1600" dirty="0"/>
            </a:br>
            <a:r>
              <a:rPr sz="1600" dirty="0"/>
              <a:t>[10] S. Lundberg, S. Lee, "A unified approach to interpreting model predictions," </a:t>
            </a:r>
            <a:r>
              <a:rPr sz="1600" dirty="0" err="1"/>
              <a:t>NeurIPS</a:t>
            </a:r>
            <a:r>
              <a:rPr sz="1600" dirty="0"/>
              <a:t>, pp. 4765–4774, 2017.</a:t>
            </a:r>
            <a:br>
              <a:rPr sz="1600" dirty="0"/>
            </a:br>
            <a:br>
              <a:rPr sz="1600" dirty="0"/>
            </a:br>
            <a:r>
              <a:rPr sz="1600" dirty="0"/>
              <a:t>Software: [11] </a:t>
            </a:r>
            <a:r>
              <a:rPr sz="1600" dirty="0" err="1"/>
              <a:t>RDKit</a:t>
            </a:r>
            <a:r>
              <a:rPr sz="1600" dirty="0"/>
              <a:t> — rdkit.org   [12] </a:t>
            </a:r>
            <a:r>
              <a:rPr sz="1600" dirty="0" err="1"/>
              <a:t>PyG</a:t>
            </a:r>
            <a:r>
              <a:rPr sz="1600" dirty="0"/>
              <a:t> — pyg.org   [13] SHAP — shap.readthedocs.io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PHASE </a:t>
            </a:r>
            <a:r>
              <a:rPr lang="en-US" dirty="0"/>
              <a:t>1</a:t>
            </a:r>
            <a:r>
              <a:t> </a:t>
            </a:r>
            <a:r>
              <a:rPr dirty="0"/>
              <a:t>· </a:t>
            </a:r>
            <a:r>
              <a:rPr lang="en-US" dirty="0"/>
              <a:t>8</a:t>
            </a:r>
            <a:r>
              <a:rPr dirty="0"/>
              <a:t>0%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BE5D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756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E4A44"/>
                </a:solidFill>
                <a:latin typeface="Calibri"/>
              </a:defRPr>
            </a:pPr>
            <a:r>
              <a:t>💊 PharmaLens — Explainable AI for Drug–Target Interaction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1990</Words>
  <Application>Microsoft Office PowerPoint</Application>
  <PresentationFormat>Widescreen</PresentationFormat>
  <Paragraphs>333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useless bruh</cp:lastModifiedBy>
  <cp:revision>3</cp:revision>
  <dcterms:created xsi:type="dcterms:W3CDTF">2013-01-27T09:14:16Z</dcterms:created>
  <dcterms:modified xsi:type="dcterms:W3CDTF">2026-10-05T05:29:55Z</dcterms:modified>
  <cp:category/>
</cp:coreProperties>
</file>